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66" r:id="rId3"/>
    <p:sldId id="257" r:id="rId4"/>
    <p:sldId id="258" r:id="rId5"/>
    <p:sldId id="267" r:id="rId6"/>
    <p:sldId id="259" r:id="rId7"/>
    <p:sldId id="260" r:id="rId8"/>
    <p:sldId id="261" r:id="rId9"/>
    <p:sldId id="268" r:id="rId10"/>
    <p:sldId id="264" r:id="rId11"/>
  </p:sldIdLst>
  <p:sldSz cx="12192000" cy="6858000"/>
  <p:notesSz cx="6858000" cy="12192000"/>
  <p:embeddedFontLst>
    <p:embeddedFont>
      <p:font typeface="Agency FB" panose="020B0503020202020204" pitchFamily="34" charset="0"/>
      <p:regular r:id="rId13"/>
      <p:bold r:id="rId14"/>
    </p:embeddedFont>
    <p:embeddedFont>
      <p:font typeface="Algerian" panose="04020705040A02060702" pitchFamily="82" charset="0"/>
      <p:regular r:id="rId15"/>
    </p:embeddedFont>
    <p:embeddedFont>
      <p:font typeface="Aptos Narrow" panose="020B0004020202020204" pitchFamily="34" charset="0"/>
      <p:regular r:id="rId16"/>
      <p:bold r:id="rId17"/>
      <p:italic r:id="rId18"/>
      <p:boldItalic r:id="rId19"/>
    </p:embeddedFont>
    <p:embeddedFont>
      <p:font typeface="Bahnschrift Light Condensed" panose="020B0502040204020203" pitchFamily="34" charset="0"/>
      <p:regular r:id="rId20"/>
    </p:embeddedFont>
    <p:embeddedFont>
      <p:font typeface="Bell MT" panose="02020503060305020303" pitchFamily="18" charset="0"/>
      <p:regular r:id="rId21"/>
      <p:bold r:id="rId22"/>
      <p:italic r:id="rId23"/>
    </p:embeddedFont>
    <p:embeddedFont>
      <p:font typeface="Bernard MT Condensed" panose="02050806060905020404" pitchFamily="18" charset="0"/>
      <p:regular r:id="rId24"/>
    </p:embeddedFont>
    <p:embeddedFont>
      <p:font typeface="Fira Sans Condensed" panose="020B0503050000020004" pitchFamily="34" charset="0"/>
      <p:regular r:id="rId25"/>
      <p:bold r:id="rId26"/>
      <p:italic r:id="rId27"/>
      <p:boldItalic r:id="rId28"/>
    </p:embeddedFont>
    <p:embeddedFont>
      <p:font typeface="Fira Sans Condensed SemiBold" panose="020B0603050000020004" pitchFamily="34" charset="0"/>
      <p:regular r:id="rId29"/>
      <p:bold r:id="rId30"/>
      <p:boldItalic r:id="rId31"/>
    </p:embeddedFont>
    <p:embeddedFont>
      <p:font typeface="JetBrains Mono Medium" panose="020B0604020202020204" charset="0"/>
      <p:regular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AA2F0A-6DF6-4C2B-9315-4531A3C1EC42}" v="1" dt="2026-10-13T04:41:35.304"/>
    <p1510:client id="{2D31073C-2010-43E0-8B01-3205A12BEC7E}" v="25" dt="2026-10-12T19:27:53.4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21" Type="http://schemas.openxmlformats.org/officeDocument/2006/relationships/font" Target="fonts/font9.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it Chaturvedi" userId="228961610b38ced0" providerId="LiveId" clId="{08C9BCED-2AAF-4909-B1FD-0DFF2093FD29}"/>
    <pc:docChg chg="undo custSel addSld modSld addSection delSection">
      <pc:chgData name="Lakshit Chaturvedi" userId="228961610b38ced0" providerId="LiveId" clId="{08C9BCED-2AAF-4909-B1FD-0DFF2093FD29}" dt="2026-10-13T04:42:49.141" v="43" actId="1076"/>
      <pc:docMkLst>
        <pc:docMk/>
      </pc:docMkLst>
      <pc:sldChg chg="modSp mod">
        <pc:chgData name="Lakshit Chaturvedi" userId="228961610b38ced0" providerId="LiveId" clId="{08C9BCED-2AAF-4909-B1FD-0DFF2093FD29}" dt="2026-10-13T01:11:39.165" v="5" actId="20577"/>
        <pc:sldMkLst>
          <pc:docMk/>
          <pc:sldMk cId="0" sldId="257"/>
        </pc:sldMkLst>
        <pc:spChg chg="mod">
          <ac:chgData name="Lakshit Chaturvedi" userId="228961610b38ced0" providerId="LiveId" clId="{08C9BCED-2AAF-4909-B1FD-0DFF2093FD29}" dt="2026-10-13T01:11:39.165" v="5" actId="20577"/>
          <ac:spMkLst>
            <pc:docMk/>
            <pc:sldMk cId="0" sldId="257"/>
            <ac:spMk id="24" creationId="{AC729D9E-4A28-478C-C642-8F413BBAB15B}"/>
          </ac:spMkLst>
        </pc:spChg>
      </pc:sldChg>
      <pc:sldChg chg="addSp delSp mod">
        <pc:chgData name="Lakshit Chaturvedi" userId="228961610b38ced0" providerId="LiveId" clId="{08C9BCED-2AAF-4909-B1FD-0DFF2093FD29}" dt="2026-10-13T04:41:52.941" v="35" actId="21"/>
        <pc:sldMkLst>
          <pc:docMk/>
          <pc:sldMk cId="0" sldId="259"/>
        </pc:sldMkLst>
        <pc:spChg chg="add del">
          <ac:chgData name="Lakshit Chaturvedi" userId="228961610b38ced0" providerId="LiveId" clId="{08C9BCED-2AAF-4909-B1FD-0DFF2093FD29}" dt="2026-10-13T04:41:52.941" v="35" actId="21"/>
          <ac:spMkLst>
            <pc:docMk/>
            <pc:sldMk cId="0" sldId="259"/>
            <ac:spMk id="29" creationId="{C4446141-123C-CF5A-209D-C2E49902E409}"/>
          </ac:spMkLst>
        </pc:spChg>
      </pc:sldChg>
      <pc:sldChg chg="addSp delSp modSp new mod">
        <pc:chgData name="Lakshit Chaturvedi" userId="228961610b38ced0" providerId="LiveId" clId="{08C9BCED-2AAF-4909-B1FD-0DFF2093FD29}" dt="2026-10-13T04:42:49.141" v="43" actId="1076"/>
        <pc:sldMkLst>
          <pc:docMk/>
          <pc:sldMk cId="1789700187" sldId="268"/>
        </pc:sldMkLst>
        <pc:spChg chg="add mod">
          <ac:chgData name="Lakshit Chaturvedi" userId="228961610b38ced0" providerId="LiveId" clId="{08C9BCED-2AAF-4909-B1FD-0DFF2093FD29}" dt="2026-10-13T04:42:49.141" v="43" actId="1076"/>
          <ac:spMkLst>
            <pc:docMk/>
            <pc:sldMk cId="1789700187" sldId="268"/>
            <ac:spMk id="2" creationId="{D9640247-EFDE-86F6-7DB3-084EE79783CB}"/>
          </ac:spMkLst>
        </pc:spChg>
        <pc:spChg chg="add del">
          <ac:chgData name="Lakshit Chaturvedi" userId="228961610b38ced0" providerId="LiveId" clId="{08C9BCED-2AAF-4909-B1FD-0DFF2093FD29}" dt="2026-10-13T04:42:17.554" v="37" actId="22"/>
          <ac:spMkLst>
            <pc:docMk/>
            <pc:sldMk cId="1789700187" sldId="268"/>
            <ac:spMk id="4" creationId="{3987321D-618E-D0FD-79FB-932564FCFB24}"/>
          </ac:spMkLst>
        </pc:spChg>
        <pc:spChg chg="add mod">
          <ac:chgData name="Lakshit Chaturvedi" userId="228961610b38ced0" providerId="LiveId" clId="{08C9BCED-2AAF-4909-B1FD-0DFF2093FD29}" dt="2026-10-13T04:42:34.772" v="41" actId="14100"/>
          <ac:spMkLst>
            <pc:docMk/>
            <pc:sldMk cId="1789700187" sldId="268"/>
            <ac:spMk id="6" creationId="{417F0B43-FDC7-425C-A9C1-E0B494EDE60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183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presentation explains the Blinkit sales and delivery dashboard created in Microsoft Power BI. I will first clarify what the project covers, then show the verified headline measures and the main comparisons in the dashboard. I will also separate what the screenshot confirms from what still needs the source dataset. The main takeaway is a clear, chart-led view of sales, orders, customers, categories, and mapped cities.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has three purposes. First, it brings sales, orders, customers, categories, products, cities, and time periods into one Power BI dashboard. Power BI is Microsoft’s tool for building interactive reports from business data. Second, the charts make comparisons easier than a raw table. Third, the findings can support better inventory and delivery decisions. I will now move from the purpose of the dashboard to the limits of the current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an important data-quality boundary. The screenshot shows dashboard outputs, but it does not show the exact row count, column count, cleaning steps, calculated columns, conditional columns, or DAX definitions. Those fields should be replaced after the uploaded dataset is available. What is verified from the dashboard is 610.10K total sales, 813 orders, and 352 customers. I will use these visible totals in the next slides, while keeping the unknowns clearly marked.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opens with three headline measures. Total sales is 610.10K, which is the overall sales value shown in the report. Average order value is 750, the average sales value per order. Total quantity is 2K, the total item quantity shown. These are KPIs because they summarise performance in a small number of figures. They give us the frame for reading the operating scale and order mix that follow.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scale is easiest to understand through two related but different KPIs. The dashboard shows 813 total order records and 352 customer IDs. Orders describe the amount of activity recorded. Customers describe the customer base represented in the dashboard. Reading them together avoids confusing repeated orders with unique customers. This gives the audience a sense of scale before we examine how those orders are divided by quantity level.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donut chart contains 813 orders in total. Bulk orders are 330, or 40.59 percent. Single-item orders are 328, or 40.34 percent. Medium orders are 155, or 19.07 percent. The important pattern is the balance between bulk and single-item orders. Together they account for almost the full order mix, while medium orders make up the smaller remaining share. The next slide narrows the question to delivered orders by quantity level.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bar chart puts all seven categories on one common scale. The order is Dairy, Vegetables, Fruits, Grains, Personal Care, Meat, and Bakery. The displayed gap between Dairy and Bakery is 95,407. This chart is useful for category prioritization because the ranking is immediately visible. It does not, by itself, explain why the categories differ. To answer that question, we would need the source data and possibly more measures such as time, product, availability, or promotion details.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F2A2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2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F2A22"/>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3632200"/>
            <a:ext cx="7619809" cy="2463800"/>
          </a:xfrm>
          <a:prstGeom prst="roundRect">
            <a:avLst>
              <a:gd name="adj" fmla="val 2474"/>
            </a:avLst>
          </a:prstGeom>
          <a:solidFill>
            <a:srgbClr val="13201B"/>
          </a:solidFill>
          <a:ln/>
        </p:spPr>
      </p:sp>
      <p:sp>
        <p:nvSpPr>
          <p:cNvPr id="3" name="Text 1"/>
          <p:cNvSpPr/>
          <p:nvPr/>
        </p:nvSpPr>
        <p:spPr>
          <a:xfrm>
            <a:off x="939776" y="3914775"/>
            <a:ext cx="7569011"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FFFFFF"/>
                </a:solidFill>
                <a:latin typeface="JetBrains Mono Medium" pitchFamily="34" charset="0"/>
                <a:ea typeface="JetBrains Mono Medium" pitchFamily="34" charset="-122"/>
                <a:cs typeface="JetBrains Mono Medium" pitchFamily="34" charset="-120"/>
              </a:rPr>
              <a:t>BLINKIT DASHBOARD · DATA ANALYSIS</a:t>
            </a:r>
            <a:endParaRPr lang="en-US" sz="1050" dirty="0"/>
          </a:p>
        </p:txBody>
      </p:sp>
      <p:sp>
        <p:nvSpPr>
          <p:cNvPr id="4" name="Text 2"/>
          <p:cNvSpPr/>
          <p:nvPr/>
        </p:nvSpPr>
        <p:spPr>
          <a:xfrm>
            <a:off x="939776" y="4153819"/>
            <a:ext cx="6959426" cy="1152128"/>
          </a:xfrm>
          <a:prstGeom prst="rect">
            <a:avLst/>
          </a:prstGeom>
          <a:noFill/>
          <a:ln/>
        </p:spPr>
        <p:txBody>
          <a:bodyPr wrap="square" lIns="0" tIns="0" rIns="0" bIns="0" rtlCol="0" anchor="t">
            <a:normAutofit lnSpcReduction="10000"/>
          </a:bodyPr>
          <a:lstStyle/>
          <a:p>
            <a:pPr marL="0" indent="0" algn="l">
              <a:lnSpc>
                <a:spcPct val="90000"/>
              </a:lnSpc>
              <a:buNone/>
            </a:pPr>
            <a:r>
              <a:rPr lang="en-US" sz="4200" kern="100" spc="-21" dirty="0">
                <a:solidFill>
                  <a:srgbClr val="FFFFFF"/>
                </a:solidFill>
                <a:latin typeface="Fira Sans Condensed SemiBold" pitchFamily="34" charset="0"/>
                <a:ea typeface="Fira Sans Condensed SemiBold" pitchFamily="34" charset="-122"/>
                <a:cs typeface="Fira Sans Condensed SemiBold" pitchFamily="34" charset="-120"/>
              </a:rPr>
              <a:t>Blinkit Sales and Delivery Performance Analysis</a:t>
            </a:r>
            <a:endParaRPr lang="en-US" sz="4200" dirty="0"/>
          </a:p>
        </p:txBody>
      </p:sp>
      <p:sp>
        <p:nvSpPr>
          <p:cNvPr id="5" name="Text 3"/>
          <p:cNvSpPr/>
          <p:nvPr/>
        </p:nvSpPr>
        <p:spPr>
          <a:xfrm>
            <a:off x="939776" y="5401469"/>
            <a:ext cx="7569011" cy="214610"/>
          </a:xfrm>
          <a:prstGeom prst="rect">
            <a:avLst/>
          </a:prstGeom>
          <a:noFill/>
          <a:ln/>
        </p:spPr>
        <p:txBody>
          <a:bodyPr wrap="none" lIns="0" tIns="0" rIns="0" bIns="0" rtlCol="0" anchor="t"/>
          <a:lstStyle/>
          <a:p>
            <a:pPr marL="0" indent="0" algn="l">
              <a:lnSpc>
                <a:spcPct val="108000"/>
              </a:lnSpc>
              <a:buNone/>
            </a:pPr>
            <a:r>
              <a:rPr lang="en-US" sz="1300" dirty="0">
                <a:solidFill>
                  <a:srgbClr val="FFFFFF"/>
                </a:solidFill>
                <a:latin typeface="Fira Sans Condensed" pitchFamily="34" charset="0"/>
                <a:ea typeface="Fira Sans Condensed" pitchFamily="34" charset="-122"/>
                <a:cs typeface="Fira Sans Condensed" pitchFamily="34" charset="-120"/>
              </a:rPr>
              <a:t>Submitted to: Mr. Shubham Pandey</a:t>
            </a:r>
            <a:endParaRPr lang="en-US" sz="1300" dirty="0"/>
          </a:p>
        </p:txBody>
      </p:sp>
      <p:sp>
        <p:nvSpPr>
          <p:cNvPr id="6" name="Text 4"/>
          <p:cNvSpPr/>
          <p:nvPr/>
        </p:nvSpPr>
        <p:spPr>
          <a:xfrm>
            <a:off x="939776" y="5736332"/>
            <a:ext cx="7569011" cy="166687"/>
          </a:xfrm>
          <a:prstGeom prst="rect">
            <a:avLst/>
          </a:prstGeom>
          <a:noFill/>
          <a:ln/>
        </p:spPr>
        <p:txBody>
          <a:bodyPr wrap="none" lIns="0" tIns="0" rIns="0" bIns="0" rtlCol="0" anchor="t"/>
          <a:lstStyle/>
          <a:p>
            <a:pPr>
              <a:lnSpc>
                <a:spcPct val="104000"/>
              </a:lnSpc>
            </a:pPr>
            <a:r>
              <a:rPr lang="en-US" sz="1050" kern="100" spc="52" dirty="0">
                <a:solidFill>
                  <a:srgbClr val="FFFFFF"/>
                </a:solidFill>
                <a:latin typeface="JetBrains Mono Medium" pitchFamily="34" charset="0"/>
                <a:ea typeface="JetBrains Mono Medium" pitchFamily="34" charset="-122"/>
                <a:cs typeface="JetBrains Mono Medium" pitchFamily="34" charset="-120"/>
              </a:rPr>
              <a:t>BLINKIT DASHBOARD · BBA BA 23 · ANANYA CHATURVEDI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BCBAC0-821B-1ABC-6856-35100C2F7419}"/>
              </a:ext>
            </a:extLst>
          </p:cNvPr>
          <p:cNvPicPr>
            <a:picLocks noChangeAspect="1"/>
          </p:cNvPicPr>
          <p:nvPr/>
        </p:nvPicPr>
        <p:blipFill>
          <a:blip r:embed="rId2"/>
          <a:stretch>
            <a:fillRect/>
          </a:stretch>
        </p:blipFill>
        <p:spPr>
          <a:xfrm>
            <a:off x="108883" y="72189"/>
            <a:ext cx="11946759" cy="6665496"/>
          </a:xfrm>
          <a:prstGeom prst="rect">
            <a:avLst/>
          </a:prstGeom>
        </p:spPr>
      </p:pic>
    </p:spTree>
    <p:extLst>
      <p:ext uri="{BB962C8B-B14F-4D97-AF65-F5344CB8AC3E}">
        <p14:creationId xmlns:p14="http://schemas.microsoft.com/office/powerpoint/2010/main" val="3243262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80990" y="384175"/>
            <a:ext cx="8046539"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9FE3C4"/>
                </a:solidFill>
                <a:latin typeface="JetBrains Mono Medium" pitchFamily="34" charset="0"/>
                <a:ea typeface="JetBrains Mono Medium" pitchFamily="34" charset="-122"/>
                <a:cs typeface="JetBrains Mono Medium" pitchFamily="34" charset="-120"/>
              </a:rPr>
              <a:t>PROJECT SCOPE</a:t>
            </a:r>
            <a:endParaRPr lang="en-US" sz="1050" dirty="0"/>
          </a:p>
        </p:txBody>
      </p:sp>
      <p:sp>
        <p:nvSpPr>
          <p:cNvPr id="3" name="Text 1"/>
          <p:cNvSpPr/>
          <p:nvPr/>
        </p:nvSpPr>
        <p:spPr>
          <a:xfrm>
            <a:off x="380990" y="613606"/>
            <a:ext cx="7665548" cy="383977"/>
          </a:xfrm>
          <a:prstGeom prst="rect">
            <a:avLst/>
          </a:prstGeom>
          <a:noFill/>
          <a:ln/>
        </p:spPr>
        <p:txBody>
          <a:bodyPr wrap="none" lIns="0" tIns="0" rIns="0" bIns="0" rtlCol="0" anchor="t"/>
          <a:lstStyle/>
          <a:p>
            <a:pPr marL="0" indent="0" algn="l">
              <a:lnSpc>
                <a:spcPct val="90000"/>
              </a:lnSpc>
              <a:buNone/>
            </a:pPr>
            <a:r>
              <a:rPr lang="en-US" sz="2800" kern="100" spc="-14" dirty="0">
                <a:solidFill>
                  <a:srgbClr val="F4F3EC"/>
                </a:solidFill>
                <a:latin typeface="Fira Sans Condensed SemiBold" pitchFamily="34" charset="0"/>
                <a:ea typeface="Fira Sans Condensed SemiBold" pitchFamily="34" charset="-122"/>
                <a:cs typeface="Fira Sans Condensed SemiBold" pitchFamily="34" charset="-120"/>
              </a:rPr>
              <a:t>What this project explains</a:t>
            </a:r>
            <a:endParaRPr lang="en-US" sz="2800" dirty="0"/>
          </a:p>
        </p:txBody>
      </p:sp>
      <p:sp>
        <p:nvSpPr>
          <p:cNvPr id="4" name="Text 2"/>
          <p:cNvSpPr/>
          <p:nvPr/>
        </p:nvSpPr>
        <p:spPr>
          <a:xfrm>
            <a:off x="380990" y="1102717"/>
            <a:ext cx="8046539" cy="214610"/>
          </a:xfrm>
          <a:prstGeom prst="rect">
            <a:avLst/>
          </a:prstGeom>
          <a:noFill/>
          <a:ln/>
        </p:spPr>
        <p:txBody>
          <a:bodyPr wrap="none" lIns="0" tIns="0" rIns="0" bIns="0" rtlCol="0" anchor="t"/>
          <a:lstStyle/>
          <a:p>
            <a:pPr marL="0" indent="0" algn="l">
              <a:lnSpc>
                <a:spcPct val="108000"/>
              </a:lnSpc>
              <a:buNone/>
            </a:pPr>
            <a:r>
              <a:rPr lang="en-US" sz="1300" dirty="0">
                <a:solidFill>
                  <a:srgbClr val="E3ECE7"/>
                </a:solidFill>
                <a:latin typeface="Fira Sans Condensed" pitchFamily="34" charset="0"/>
                <a:ea typeface="Fira Sans Condensed" pitchFamily="34" charset="-122"/>
                <a:cs typeface="Fira Sans Condensed" pitchFamily="34" charset="-120"/>
              </a:rPr>
              <a:t>One Power BI dashboard turns Blinkit business data into a view that is easier to compare and discuss.</a:t>
            </a:r>
            <a:endParaRPr lang="en-US" sz="1300" dirty="0"/>
          </a:p>
        </p:txBody>
      </p:sp>
      <p:sp>
        <p:nvSpPr>
          <p:cNvPr id="5" name="Shape 3"/>
          <p:cNvSpPr/>
          <p:nvPr/>
        </p:nvSpPr>
        <p:spPr>
          <a:xfrm>
            <a:off x="5593019" y="4050631"/>
            <a:ext cx="2453519" cy="2371699"/>
          </a:xfrm>
          <a:prstGeom prst="roundRect">
            <a:avLst>
              <a:gd name="adj" fmla="val 3247"/>
            </a:avLst>
          </a:prstGeom>
          <a:solidFill>
            <a:srgbClr val="F2D13A"/>
          </a:solidFill>
          <a:ln/>
        </p:spPr>
        <p:txBody>
          <a:bodyPr/>
          <a:lstStyle/>
          <a:p>
            <a:endParaRPr lang="en-US"/>
          </a:p>
        </p:txBody>
      </p:sp>
      <p:sp>
        <p:nvSpPr>
          <p:cNvPr id="9" name="Shape 6"/>
          <p:cNvSpPr/>
          <p:nvPr/>
        </p:nvSpPr>
        <p:spPr>
          <a:xfrm>
            <a:off x="2986906" y="1644315"/>
            <a:ext cx="2453618" cy="4829509"/>
          </a:xfrm>
          <a:prstGeom prst="roundRect">
            <a:avLst>
              <a:gd name="adj" fmla="val 3247"/>
            </a:avLst>
          </a:prstGeom>
          <a:solidFill>
            <a:srgbClr val="9FE3C4"/>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3977174" y="1801157"/>
            <a:ext cx="330192" cy="330200"/>
          </a:xfrm>
          <a:prstGeom prst="rect">
            <a:avLst/>
          </a:prstGeom>
        </p:spPr>
      </p:pic>
      <p:pic>
        <p:nvPicPr>
          <p:cNvPr id="10" name="Image 1" descr="preencoded.png"/>
          <p:cNvPicPr>
            <a:picLocks noChangeAspect="1"/>
          </p:cNvPicPr>
          <p:nvPr/>
        </p:nvPicPr>
        <p:blipFill>
          <a:blip r:embed="rId4"/>
          <a:stretch>
            <a:fillRect/>
          </a:stretch>
        </p:blipFill>
        <p:spPr>
          <a:xfrm>
            <a:off x="5711921" y="4181215"/>
            <a:ext cx="330192" cy="330200"/>
          </a:xfrm>
          <a:prstGeom prst="rect">
            <a:avLst/>
          </a:prstGeom>
        </p:spPr>
      </p:pic>
      <p:sp>
        <p:nvSpPr>
          <p:cNvPr id="11" name="Text 7"/>
          <p:cNvSpPr/>
          <p:nvPr/>
        </p:nvSpPr>
        <p:spPr>
          <a:xfrm>
            <a:off x="3164701" y="1992015"/>
            <a:ext cx="2098027" cy="219075"/>
          </a:xfrm>
          <a:prstGeom prst="rect">
            <a:avLst/>
          </a:prstGeom>
          <a:noFill/>
          <a:ln/>
        </p:spPr>
        <p:txBody>
          <a:bodyPr wrap="none" lIns="0" tIns="0" rIns="0" bIns="0" rtlCol="0" anchor="t"/>
          <a:lstStyle/>
          <a:p>
            <a:pPr marL="0" indent="0" algn="l">
              <a:lnSpc>
                <a:spcPct val="96000"/>
              </a:lnSpc>
              <a:buNone/>
            </a:pPr>
            <a:endParaRPr lang="en-US" sz="1500" dirty="0"/>
          </a:p>
        </p:txBody>
      </p:sp>
      <p:sp>
        <p:nvSpPr>
          <p:cNvPr id="12" name="Text 8"/>
          <p:cNvSpPr/>
          <p:nvPr/>
        </p:nvSpPr>
        <p:spPr>
          <a:xfrm>
            <a:off x="3164701" y="2298402"/>
            <a:ext cx="2098027" cy="643830"/>
          </a:xfrm>
          <a:prstGeom prst="rect">
            <a:avLst/>
          </a:prstGeom>
          <a:noFill/>
          <a:ln/>
        </p:spPr>
        <p:txBody>
          <a:bodyPr wrap="square" lIns="0" tIns="0" rIns="0" bIns="0" rtlCol="0" anchor="t">
            <a:normAutofit/>
          </a:bodyPr>
          <a:lstStyle/>
          <a:p>
            <a:pPr marL="0" indent="0" algn="l">
              <a:lnSpc>
                <a:spcPct val="108000"/>
              </a:lnSpc>
              <a:buNone/>
            </a:pPr>
            <a:endParaRPr lang="en-US" sz="1300" dirty="0"/>
          </a:p>
        </p:txBody>
      </p:sp>
      <p:sp>
        <p:nvSpPr>
          <p:cNvPr id="13" name="Shape 9"/>
          <p:cNvSpPr/>
          <p:nvPr/>
        </p:nvSpPr>
        <p:spPr>
          <a:xfrm>
            <a:off x="5592821" y="1644315"/>
            <a:ext cx="2453519" cy="2255280"/>
          </a:xfrm>
          <a:prstGeom prst="roundRect">
            <a:avLst>
              <a:gd name="adj" fmla="val 3247"/>
            </a:avLst>
          </a:prstGeom>
          <a:solidFill>
            <a:srgbClr val="DDF2E8"/>
          </a:solidFill>
          <a:ln/>
        </p:spPr>
      </p:sp>
      <p:pic>
        <p:nvPicPr>
          <p:cNvPr id="14" name="Image 2" descr="preencoded.png"/>
          <p:cNvPicPr>
            <a:picLocks noChangeAspect="1"/>
          </p:cNvPicPr>
          <p:nvPr/>
        </p:nvPicPr>
        <p:blipFill>
          <a:blip r:embed="rId5"/>
          <a:stretch>
            <a:fillRect/>
          </a:stretch>
        </p:blipFill>
        <p:spPr>
          <a:xfrm>
            <a:off x="5711921" y="1760625"/>
            <a:ext cx="330192" cy="264120"/>
          </a:xfrm>
          <a:prstGeom prst="rect">
            <a:avLst/>
          </a:prstGeom>
        </p:spPr>
      </p:pic>
      <p:sp>
        <p:nvSpPr>
          <p:cNvPr id="15" name="Text 10"/>
          <p:cNvSpPr/>
          <p:nvPr/>
        </p:nvSpPr>
        <p:spPr>
          <a:xfrm>
            <a:off x="5770716" y="1925935"/>
            <a:ext cx="2097928" cy="219075"/>
          </a:xfrm>
          <a:prstGeom prst="rect">
            <a:avLst/>
          </a:prstGeom>
          <a:noFill/>
          <a:ln/>
        </p:spPr>
        <p:txBody>
          <a:bodyPr wrap="none" lIns="0" tIns="0" rIns="0" bIns="0" rtlCol="0" anchor="t"/>
          <a:lstStyle/>
          <a:p>
            <a:pPr marL="0" indent="0" algn="l">
              <a:lnSpc>
                <a:spcPct val="96000"/>
              </a:lnSpc>
              <a:buNone/>
            </a:pPr>
            <a:endParaRPr lang="en-US" sz="1500" dirty="0"/>
          </a:p>
        </p:txBody>
      </p:sp>
      <p:sp>
        <p:nvSpPr>
          <p:cNvPr id="16" name="Text 11"/>
          <p:cNvSpPr/>
          <p:nvPr/>
        </p:nvSpPr>
        <p:spPr>
          <a:xfrm>
            <a:off x="5770716" y="2232323"/>
            <a:ext cx="2097928" cy="643830"/>
          </a:xfrm>
          <a:prstGeom prst="rect">
            <a:avLst/>
          </a:prstGeom>
          <a:noFill/>
          <a:ln/>
        </p:spPr>
        <p:txBody>
          <a:bodyPr wrap="square" lIns="0" tIns="0" rIns="0" bIns="0" rtlCol="0" anchor="t">
            <a:normAutofit/>
          </a:bodyPr>
          <a:lstStyle/>
          <a:p>
            <a:pPr marL="0" indent="0" algn="l">
              <a:lnSpc>
                <a:spcPct val="108000"/>
              </a:lnSpc>
              <a:buNone/>
            </a:pPr>
            <a:endParaRPr lang="en-US" sz="1300" dirty="0"/>
          </a:p>
        </p:txBody>
      </p:sp>
      <p:sp>
        <p:nvSpPr>
          <p:cNvPr id="17" name="Shape 12"/>
          <p:cNvSpPr/>
          <p:nvPr/>
        </p:nvSpPr>
        <p:spPr>
          <a:xfrm>
            <a:off x="8579826" y="0"/>
            <a:ext cx="3611869" cy="6858000"/>
          </a:xfrm>
          <a:prstGeom prst="roundRect">
            <a:avLst>
              <a:gd name="adj" fmla="val 1688"/>
            </a:avLst>
          </a:prstGeom>
          <a:solidFill>
            <a:srgbClr val="F4F3EC"/>
          </a:solidFill>
          <a:ln/>
        </p:spPr>
      </p:sp>
      <p:pic>
        <p:nvPicPr>
          <p:cNvPr id="23" name="Picture 22">
            <a:extLst>
              <a:ext uri="{FF2B5EF4-FFF2-40B4-BE49-F238E27FC236}">
                <a16:creationId xmlns:a16="http://schemas.microsoft.com/office/drawing/2014/main" id="{B8D12B71-CFE6-1274-5DCB-9B97CFF200CB}"/>
              </a:ext>
            </a:extLst>
          </p:cNvPr>
          <p:cNvPicPr>
            <a:picLocks noChangeAspect="1"/>
          </p:cNvPicPr>
          <p:nvPr/>
        </p:nvPicPr>
        <p:blipFill>
          <a:blip r:embed="rId6"/>
          <a:stretch>
            <a:fillRect/>
          </a:stretch>
        </p:blipFill>
        <p:spPr>
          <a:xfrm>
            <a:off x="491985" y="1556184"/>
            <a:ext cx="1850541" cy="478114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24" name="TextBox 23">
            <a:extLst>
              <a:ext uri="{FF2B5EF4-FFF2-40B4-BE49-F238E27FC236}">
                <a16:creationId xmlns:a16="http://schemas.microsoft.com/office/drawing/2014/main" id="{AC729D9E-4A28-478C-C642-8F413BBAB15B}"/>
              </a:ext>
            </a:extLst>
          </p:cNvPr>
          <p:cNvSpPr txBox="1"/>
          <p:nvPr/>
        </p:nvSpPr>
        <p:spPr>
          <a:xfrm>
            <a:off x="2961309" y="2145011"/>
            <a:ext cx="2453618" cy="3816429"/>
          </a:xfrm>
          <a:prstGeom prst="rect">
            <a:avLst/>
          </a:prstGeom>
          <a:noFill/>
        </p:spPr>
        <p:txBody>
          <a:bodyPr wrap="square" rtlCol="0">
            <a:spAutoFit/>
          </a:bodyPr>
          <a:lstStyle/>
          <a:p>
            <a:r>
              <a:rPr lang="en-US" sz="1400" b="1" dirty="0"/>
              <a:t>Dashboard Overview</a:t>
            </a:r>
          </a:p>
          <a:p>
            <a:pPr lvl="0"/>
            <a:endParaRPr lang="en-US" sz="1400" dirty="0"/>
          </a:p>
          <a:p>
            <a:pPr marL="285750" lvl="0" indent="-285750">
              <a:buFont typeface="Arial" panose="020B0604020202020204" pitchFamily="34" charset="0"/>
              <a:buChar char="•"/>
            </a:pPr>
            <a:r>
              <a:rPr lang="en-US" sz="1400" dirty="0"/>
              <a:t>The dashboard provides an overview of </a:t>
            </a:r>
            <a:r>
              <a:rPr lang="en-US" sz="1400" dirty="0" err="1"/>
              <a:t>Blinkit's</a:t>
            </a:r>
            <a:r>
              <a:rPr lang="en-US" sz="1400" dirty="0"/>
              <a:t> sales and order data.</a:t>
            </a:r>
          </a:p>
          <a:p>
            <a:pPr marL="285750" lvl="0" indent="-285750">
              <a:buFont typeface="Arial" panose="020B0604020202020204" pitchFamily="34" charset="0"/>
              <a:buChar char="•"/>
            </a:pPr>
            <a:r>
              <a:rPr lang="en-US" sz="1400" dirty="0"/>
              <a:t>It combines </a:t>
            </a:r>
            <a:r>
              <a:rPr lang="en-US" sz="1400" b="1" dirty="0"/>
              <a:t>sales performance</a:t>
            </a:r>
            <a:r>
              <a:rPr lang="en-US" sz="1400" dirty="0"/>
              <a:t>, </a:t>
            </a:r>
            <a:r>
              <a:rPr lang="en-US" sz="1400" b="1" dirty="0"/>
              <a:t>product categories</a:t>
            </a:r>
            <a:r>
              <a:rPr lang="en-US" sz="1400" dirty="0"/>
              <a:t>, </a:t>
            </a:r>
            <a:r>
              <a:rPr lang="en-US" sz="1400" b="1" dirty="0"/>
              <a:t>order quantities </a:t>
            </a:r>
            <a:r>
              <a:rPr lang="en-US" sz="1400"/>
              <a:t>and other order </a:t>
            </a:r>
            <a:r>
              <a:rPr lang="en-US" sz="1400" dirty="0"/>
              <a:t>trends.</a:t>
            </a:r>
          </a:p>
          <a:p>
            <a:pPr marL="285750" lvl="0" indent="-285750">
              <a:buFont typeface="Arial" panose="020B0604020202020204" pitchFamily="34" charset="0"/>
              <a:buChar char="•"/>
            </a:pPr>
            <a:r>
              <a:rPr lang="en-US" sz="1400" dirty="0"/>
              <a:t>It includes </a:t>
            </a:r>
            <a:r>
              <a:rPr lang="en-US" sz="1400" b="1" dirty="0"/>
              <a:t>geographical analysis </a:t>
            </a:r>
            <a:r>
              <a:rPr lang="en-US" sz="1400" dirty="0"/>
              <a:t>using city-level data.</a:t>
            </a:r>
          </a:p>
          <a:p>
            <a:pPr marL="285750" lvl="0" indent="-285750">
              <a:buFont typeface="Arial" panose="020B0604020202020204" pitchFamily="34" charset="0"/>
              <a:buChar char="•"/>
            </a:pPr>
            <a:r>
              <a:rPr lang="en-US" sz="1400" b="1" dirty="0"/>
              <a:t>The purpose </a:t>
            </a:r>
            <a:r>
              <a:rPr lang="en-US" sz="1400" dirty="0"/>
              <a:t>is to </a:t>
            </a:r>
            <a:r>
              <a:rPr lang="en-US" sz="1400" i="1" dirty="0"/>
              <a:t>identify patterns </a:t>
            </a:r>
            <a:r>
              <a:rPr lang="en-US" sz="1400" dirty="0"/>
              <a:t>and support data-driven business decisions.</a:t>
            </a:r>
          </a:p>
          <a:p>
            <a:endParaRPr lang="en-US" dirty="0"/>
          </a:p>
        </p:txBody>
      </p:sp>
      <p:sp>
        <p:nvSpPr>
          <p:cNvPr id="25" name="TextBox 24">
            <a:extLst>
              <a:ext uri="{FF2B5EF4-FFF2-40B4-BE49-F238E27FC236}">
                <a16:creationId xmlns:a16="http://schemas.microsoft.com/office/drawing/2014/main" id="{56DAF479-25A9-DA7A-7261-F2ADC29616AB}"/>
              </a:ext>
            </a:extLst>
          </p:cNvPr>
          <p:cNvSpPr txBox="1"/>
          <p:nvPr/>
        </p:nvSpPr>
        <p:spPr>
          <a:xfrm>
            <a:off x="5796016" y="1947125"/>
            <a:ext cx="2097928" cy="1815882"/>
          </a:xfrm>
          <a:prstGeom prst="rect">
            <a:avLst/>
          </a:prstGeom>
          <a:noFill/>
        </p:spPr>
        <p:txBody>
          <a:bodyPr wrap="square" rtlCol="0">
            <a:spAutoFit/>
          </a:bodyPr>
          <a:lstStyle/>
          <a:p>
            <a:r>
              <a:rPr lang="en-US" sz="1600" dirty="0"/>
              <a:t>Gross Revenue stands up to 610 k covering many cities like </a:t>
            </a:r>
            <a:r>
              <a:rPr lang="en-US" sz="1600" dirty="0" err="1"/>
              <a:t>Banglore</a:t>
            </a:r>
            <a:r>
              <a:rPr lang="en-US" sz="1600" dirty="0"/>
              <a:t>, Mumbai, Pune, Hyderabad… with around 352 unique customers.</a:t>
            </a:r>
          </a:p>
        </p:txBody>
      </p:sp>
      <p:sp>
        <p:nvSpPr>
          <p:cNvPr id="26" name="TextBox 25">
            <a:extLst>
              <a:ext uri="{FF2B5EF4-FFF2-40B4-BE49-F238E27FC236}">
                <a16:creationId xmlns:a16="http://schemas.microsoft.com/office/drawing/2014/main" id="{EE8FB346-4EDB-BB0F-55E7-AAB10515D8BA}"/>
              </a:ext>
            </a:extLst>
          </p:cNvPr>
          <p:cNvSpPr txBox="1"/>
          <p:nvPr/>
        </p:nvSpPr>
        <p:spPr>
          <a:xfrm>
            <a:off x="5770716" y="4331368"/>
            <a:ext cx="2097928" cy="2031325"/>
          </a:xfrm>
          <a:prstGeom prst="rect">
            <a:avLst/>
          </a:prstGeom>
          <a:noFill/>
        </p:spPr>
        <p:txBody>
          <a:bodyPr wrap="square" rtlCol="0">
            <a:spAutoFit/>
          </a:bodyPr>
          <a:lstStyle/>
          <a:p>
            <a:pPr marL="285750" indent="-285750">
              <a:buFont typeface="Arial" panose="020B0604020202020204" pitchFamily="34" charset="0"/>
              <a:buChar char="•"/>
            </a:pPr>
            <a:r>
              <a:rPr lang="en-US" sz="1400" dirty="0"/>
              <a:t>It is found that the customers on an avg, order items, costing up to 750 Rs.</a:t>
            </a:r>
          </a:p>
          <a:p>
            <a:pPr marL="285750" indent="-285750">
              <a:buFont typeface="Arial" panose="020B0604020202020204" pitchFamily="34" charset="0"/>
              <a:buChar char="•"/>
            </a:pPr>
            <a:r>
              <a:rPr lang="en-US" sz="1400" dirty="0"/>
              <a:t>So far the store reaches around 813 no of items being successfully delivered to homes.</a:t>
            </a:r>
          </a:p>
        </p:txBody>
      </p:sp>
      <p:sp>
        <p:nvSpPr>
          <p:cNvPr id="27" name="TextBox 26">
            <a:extLst>
              <a:ext uri="{FF2B5EF4-FFF2-40B4-BE49-F238E27FC236}">
                <a16:creationId xmlns:a16="http://schemas.microsoft.com/office/drawing/2014/main" id="{B94030BA-6562-8F43-384D-4047D7D0939F}"/>
              </a:ext>
            </a:extLst>
          </p:cNvPr>
          <p:cNvSpPr txBox="1"/>
          <p:nvPr/>
        </p:nvSpPr>
        <p:spPr>
          <a:xfrm>
            <a:off x="8732124" y="400163"/>
            <a:ext cx="3355601" cy="523220"/>
          </a:xfrm>
          <a:prstGeom prst="rect">
            <a:avLst/>
          </a:prstGeom>
          <a:noFill/>
        </p:spPr>
        <p:txBody>
          <a:bodyPr wrap="square" rtlCol="0">
            <a:spAutoFit/>
          </a:bodyPr>
          <a:lstStyle/>
          <a:p>
            <a:r>
              <a:rPr lang="en-US" sz="2800" b="1" dirty="0">
                <a:latin typeface="Algerian" panose="04020705040A02060702" pitchFamily="82" charset="0"/>
              </a:rPr>
              <a:t>KEY FOCUS AREAS</a:t>
            </a:r>
          </a:p>
        </p:txBody>
      </p:sp>
      <p:sp>
        <p:nvSpPr>
          <p:cNvPr id="28" name="TextBox 27">
            <a:extLst>
              <a:ext uri="{FF2B5EF4-FFF2-40B4-BE49-F238E27FC236}">
                <a16:creationId xmlns:a16="http://schemas.microsoft.com/office/drawing/2014/main" id="{0D873493-B665-0947-2064-3354FC4EC921}"/>
              </a:ext>
            </a:extLst>
          </p:cNvPr>
          <p:cNvSpPr txBox="1"/>
          <p:nvPr/>
        </p:nvSpPr>
        <p:spPr>
          <a:xfrm>
            <a:off x="8975558" y="1556184"/>
            <a:ext cx="2943726" cy="3970318"/>
          </a:xfrm>
          <a:prstGeom prst="rect">
            <a:avLst/>
          </a:prstGeom>
          <a:noFill/>
        </p:spPr>
        <p:txBody>
          <a:bodyPr wrap="square" rtlCol="0">
            <a:spAutoFit/>
          </a:bodyPr>
          <a:lstStyle/>
          <a:p>
            <a:pPr marL="342900" indent="-342900">
              <a:buAutoNum type="arabicPeriod"/>
            </a:pPr>
            <a:r>
              <a:rPr lang="en-US" sz="2800" dirty="0">
                <a:solidFill>
                  <a:schemeClr val="accent6">
                    <a:lumMod val="75000"/>
                  </a:schemeClr>
                </a:solidFill>
                <a:latin typeface="Bernard MT Condensed" panose="02050806060905020404" pitchFamily="18" charset="0"/>
              </a:rPr>
              <a:t>Sales Analysis of </a:t>
            </a:r>
            <a:r>
              <a:rPr lang="en-US" sz="2800" dirty="0" err="1">
                <a:solidFill>
                  <a:schemeClr val="accent6">
                    <a:lumMod val="75000"/>
                  </a:schemeClr>
                </a:solidFill>
                <a:latin typeface="Bernard MT Condensed" panose="02050806060905020404" pitchFamily="18" charset="0"/>
              </a:rPr>
              <a:t>Blinkit</a:t>
            </a:r>
            <a:r>
              <a:rPr lang="en-US" sz="2800" dirty="0">
                <a:solidFill>
                  <a:schemeClr val="accent6">
                    <a:lumMod val="75000"/>
                  </a:schemeClr>
                </a:solidFill>
                <a:latin typeface="Bernard MT Condensed" panose="02050806060905020404" pitchFamily="18" charset="0"/>
              </a:rPr>
              <a:t> Stores across various cities in India.</a:t>
            </a:r>
          </a:p>
          <a:p>
            <a:pPr marL="342900" indent="-342900">
              <a:buAutoNum type="arabicPeriod"/>
            </a:pPr>
            <a:r>
              <a:rPr lang="en-US" sz="2800" dirty="0">
                <a:solidFill>
                  <a:schemeClr val="accent6">
                    <a:lumMod val="75000"/>
                  </a:schemeClr>
                </a:solidFill>
                <a:latin typeface="Bernard MT Condensed" panose="02050806060905020404" pitchFamily="18" charset="0"/>
              </a:rPr>
              <a:t>Revenue Generated in the financial year.</a:t>
            </a:r>
          </a:p>
          <a:p>
            <a:pPr marL="342900" indent="-342900">
              <a:buAutoNum type="arabicPeriod"/>
            </a:pPr>
            <a:r>
              <a:rPr lang="en-US" sz="2800" dirty="0">
                <a:solidFill>
                  <a:schemeClr val="accent6">
                    <a:lumMod val="75000"/>
                  </a:schemeClr>
                </a:solidFill>
                <a:latin typeface="Bernard MT Condensed" panose="02050806060905020404" pitchFamily="18" charset="0"/>
              </a:rPr>
              <a:t>Important areas to improve</a:t>
            </a:r>
            <a:r>
              <a:rPr lang="en-US" sz="2800" dirty="0">
                <a:solidFill>
                  <a:schemeClr val="accent6">
                    <a:lumMod val="75000"/>
                  </a:schemeClr>
                </a:solidFil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248030" y="110325"/>
            <a:ext cx="2615486" cy="383977"/>
          </a:xfrm>
          <a:prstGeom prst="rect">
            <a:avLst/>
          </a:prstGeom>
          <a:noFill/>
          <a:ln/>
        </p:spPr>
        <p:txBody>
          <a:bodyPr wrap="none" lIns="0" tIns="0" rIns="0" bIns="0" rtlCol="0" anchor="t"/>
          <a:lstStyle/>
          <a:p>
            <a:pPr marL="0" indent="0" algn="l">
              <a:lnSpc>
                <a:spcPct val="90000"/>
              </a:lnSpc>
              <a:buNone/>
            </a:pPr>
            <a:r>
              <a:rPr lang="en-US" sz="2800" b="1" dirty="0">
                <a:solidFill>
                  <a:schemeClr val="bg1"/>
                </a:solidFill>
                <a:latin typeface="Algerian" panose="04020705040A02060702" pitchFamily="82" charset="0"/>
              </a:rPr>
              <a:t>Slicer / Filter</a:t>
            </a:r>
          </a:p>
        </p:txBody>
      </p:sp>
      <p:sp>
        <p:nvSpPr>
          <p:cNvPr id="4" name="Text 2"/>
          <p:cNvSpPr/>
          <p:nvPr/>
        </p:nvSpPr>
        <p:spPr>
          <a:xfrm>
            <a:off x="4154907" y="144847"/>
            <a:ext cx="6994358" cy="314932"/>
          </a:xfrm>
          <a:prstGeom prst="rect">
            <a:avLst/>
          </a:prstGeom>
          <a:noFill/>
          <a:ln/>
        </p:spPr>
        <p:txBody>
          <a:bodyPr wrap="none" lIns="0" tIns="0" rIns="0" bIns="0" rtlCol="0" anchor="t"/>
          <a:lstStyle/>
          <a:p>
            <a:pPr>
              <a:lnSpc>
                <a:spcPct val="100000"/>
              </a:lnSpc>
            </a:pPr>
            <a:r>
              <a:rPr lang="en-US" sz="1600" b="1" dirty="0">
                <a:solidFill>
                  <a:schemeClr val="bg1"/>
                </a:solidFill>
                <a:latin typeface="Bahnschrift Light Condensed" panose="020B0502040204020203" pitchFamily="34" charset="0"/>
              </a:rPr>
              <a:t>An interactive visual filter that allows users to dynamically filter and explore data on a report page</a:t>
            </a:r>
            <a:r>
              <a:rPr lang="en-US" b="1" dirty="0"/>
              <a:t>.</a:t>
            </a:r>
          </a:p>
          <a:p>
            <a:pPr marL="0" indent="0" algn="l">
              <a:lnSpc>
                <a:spcPct val="108000"/>
              </a:lnSpc>
              <a:buNone/>
            </a:pPr>
            <a:endParaRPr lang="en-US" sz="1300" dirty="0"/>
          </a:p>
        </p:txBody>
      </p:sp>
      <p:sp>
        <p:nvSpPr>
          <p:cNvPr id="5" name="Shape 3"/>
          <p:cNvSpPr/>
          <p:nvPr/>
        </p:nvSpPr>
        <p:spPr>
          <a:xfrm>
            <a:off x="0" y="2968129"/>
            <a:ext cx="7424254" cy="3889871"/>
          </a:xfrm>
          <a:prstGeom prst="roundRect">
            <a:avLst>
              <a:gd name="adj" fmla="val 1567"/>
            </a:avLst>
          </a:prstGeom>
          <a:solidFill>
            <a:srgbClr val="1F6B50"/>
          </a:solidFill>
          <a:ln w="6350">
            <a:solidFill>
              <a:srgbClr val="8CA89B"/>
            </a:solidFill>
            <a:prstDash val="solid"/>
          </a:ln>
        </p:spPr>
      </p:sp>
      <p:sp>
        <p:nvSpPr>
          <p:cNvPr id="6" name="Text 4"/>
          <p:cNvSpPr/>
          <p:nvPr/>
        </p:nvSpPr>
        <p:spPr>
          <a:xfrm>
            <a:off x="209545" y="3155454"/>
            <a:ext cx="7214709" cy="159941"/>
          </a:xfrm>
          <a:prstGeom prst="rect">
            <a:avLst/>
          </a:prstGeom>
          <a:noFill/>
          <a:ln/>
        </p:spPr>
        <p:txBody>
          <a:bodyPr wrap="none" lIns="0" tIns="0" rIns="0" bIns="0" rtlCol="0" anchor="t"/>
          <a:lstStyle/>
          <a:p>
            <a:pPr marL="0" indent="0">
              <a:lnSpc>
                <a:spcPct val="100000"/>
              </a:lnSpc>
              <a:buNone/>
            </a:pPr>
            <a:r>
              <a:rPr lang="en-US" sz="2800" kern="100" spc="63" dirty="0">
                <a:solidFill>
                  <a:srgbClr val="FFFFFF"/>
                </a:solidFill>
                <a:latin typeface="JetBrains Mono Medium" pitchFamily="34" charset="0"/>
                <a:cs typeface="JetBrains Mono Medium" pitchFamily="34" charset="-120"/>
              </a:rPr>
              <a:t>USE OF SLICER</a:t>
            </a:r>
            <a:r>
              <a:rPr lang="en-US" sz="1050" kern="100" spc="63" dirty="0">
                <a:solidFill>
                  <a:srgbClr val="FFFFFF"/>
                </a:solidFill>
                <a:latin typeface="JetBrains Mono Medium" pitchFamily="34" charset="0"/>
                <a:cs typeface="JetBrains Mono Medium" pitchFamily="34" charset="-120"/>
              </a:rPr>
              <a:t>:</a:t>
            </a:r>
            <a:endParaRPr lang="en-US" sz="1050" dirty="0"/>
          </a:p>
        </p:txBody>
      </p:sp>
      <p:sp>
        <p:nvSpPr>
          <p:cNvPr id="7" name="Text 5"/>
          <p:cNvSpPr/>
          <p:nvPr/>
        </p:nvSpPr>
        <p:spPr>
          <a:xfrm>
            <a:off x="209544" y="3766939"/>
            <a:ext cx="7005165" cy="2578001"/>
          </a:xfrm>
          <a:prstGeom prst="rect">
            <a:avLst/>
          </a:prstGeom>
          <a:noFill/>
          <a:ln/>
        </p:spPr>
        <p:txBody>
          <a:bodyPr wrap="square" lIns="0" tIns="0" rIns="0" bIns="0" rtlCol="0" anchor="t">
            <a:normAutofit fontScale="40000" lnSpcReduction="20000"/>
          </a:bodyPr>
          <a:lstStyle/>
          <a:p>
            <a:pPr marL="457200" indent="-457200" algn="l">
              <a:lnSpc>
                <a:spcPct val="108000"/>
              </a:lnSpc>
              <a:buSzPct val="100000"/>
              <a:buFont typeface="Wingdings" panose="05000000000000000000" pitchFamily="2" charset="2"/>
              <a:buChar char="Ø"/>
            </a:pPr>
            <a:r>
              <a:rPr lang="en-US" sz="5000" dirty="0">
                <a:solidFill>
                  <a:schemeClr val="bg1"/>
                </a:solidFill>
                <a:latin typeface="Arial" panose="020B0604020202020204" pitchFamily="34" charset="0"/>
                <a:cs typeface="Arial" panose="020B0604020202020204" pitchFamily="34" charset="0"/>
              </a:rPr>
              <a:t>In the dashboard, the slicer  shows the cities across which the </a:t>
            </a:r>
            <a:r>
              <a:rPr lang="en-US" sz="5000" b="1" dirty="0" err="1">
                <a:solidFill>
                  <a:schemeClr val="bg1"/>
                </a:solidFill>
                <a:latin typeface="Arial" panose="020B0604020202020204" pitchFamily="34" charset="0"/>
                <a:cs typeface="Arial" panose="020B0604020202020204" pitchFamily="34" charset="0"/>
              </a:rPr>
              <a:t>Blinkit</a:t>
            </a:r>
            <a:r>
              <a:rPr lang="en-US" sz="5000" b="1" dirty="0">
                <a:solidFill>
                  <a:schemeClr val="bg1"/>
                </a:solidFill>
                <a:latin typeface="Arial" panose="020B0604020202020204" pitchFamily="34" charset="0"/>
                <a:cs typeface="Arial" panose="020B0604020202020204" pitchFamily="34" charset="0"/>
              </a:rPr>
              <a:t> Stores </a:t>
            </a:r>
            <a:r>
              <a:rPr lang="en-US" sz="5000" dirty="0">
                <a:solidFill>
                  <a:schemeClr val="bg1"/>
                </a:solidFill>
                <a:latin typeface="Arial" panose="020B0604020202020204" pitchFamily="34" charset="0"/>
                <a:cs typeface="Arial" panose="020B0604020202020204" pitchFamily="34" charset="0"/>
              </a:rPr>
              <a:t>have been reported in the csv file used in power BI.</a:t>
            </a:r>
          </a:p>
          <a:p>
            <a:pPr marL="457200" indent="-457200" algn="l">
              <a:lnSpc>
                <a:spcPct val="108000"/>
              </a:lnSpc>
              <a:buSzPct val="100000"/>
              <a:buFont typeface="Wingdings" panose="05000000000000000000" pitchFamily="2" charset="2"/>
              <a:buChar char="Ø"/>
            </a:pPr>
            <a:r>
              <a:rPr lang="en-US" sz="5000" dirty="0">
                <a:solidFill>
                  <a:schemeClr val="bg1"/>
                </a:solidFill>
                <a:latin typeface="Arial" panose="020B0604020202020204" pitchFamily="34" charset="0"/>
                <a:cs typeface="Arial" panose="020B0604020202020204" pitchFamily="34" charset="0"/>
              </a:rPr>
              <a:t>Using the slicer, we can track in which city the most revenue has been generated.</a:t>
            </a:r>
          </a:p>
          <a:p>
            <a:pPr marL="457200" indent="-457200" algn="l">
              <a:lnSpc>
                <a:spcPct val="108000"/>
              </a:lnSpc>
              <a:buSzPct val="100000"/>
              <a:buFont typeface="Wingdings" panose="05000000000000000000" pitchFamily="2" charset="2"/>
              <a:buChar char="Ø"/>
            </a:pPr>
            <a:r>
              <a:rPr lang="en-US" sz="5000" dirty="0">
                <a:solidFill>
                  <a:schemeClr val="bg1"/>
                </a:solidFill>
                <a:latin typeface="Arial" panose="020B0604020202020204" pitchFamily="34" charset="0"/>
                <a:cs typeface="Arial" panose="020B0604020202020204" pitchFamily="34" charset="0"/>
              </a:rPr>
              <a:t>Here, in this case,  Chennai bypasses Delhi, showing around  102 K in Indian Currency.</a:t>
            </a:r>
          </a:p>
          <a:p>
            <a:pPr marL="457200" indent="-457200" algn="l">
              <a:lnSpc>
                <a:spcPct val="108000"/>
              </a:lnSpc>
              <a:buSzPct val="100000"/>
              <a:buFont typeface="Wingdings" panose="05000000000000000000" pitchFamily="2" charset="2"/>
              <a:buChar char="Ø"/>
            </a:pPr>
            <a:r>
              <a:rPr lang="en-US" sz="5000" dirty="0">
                <a:solidFill>
                  <a:schemeClr val="bg1"/>
                </a:solidFill>
                <a:latin typeface="Arial" panose="020B0604020202020204" pitchFamily="34" charset="0"/>
                <a:cs typeface="Arial" panose="020B0604020202020204" pitchFamily="34" charset="0"/>
              </a:rPr>
              <a:t>Thereafter, cities like Mumbai, Hyderabad, Pune rank.</a:t>
            </a:r>
          </a:p>
          <a:p>
            <a:pPr algn="l">
              <a:lnSpc>
                <a:spcPct val="108000"/>
              </a:lnSpc>
              <a:buSzPct val="100000"/>
            </a:pPr>
            <a:endParaRPr lang="en-US" sz="1300" dirty="0">
              <a:solidFill>
                <a:schemeClr val="bg1"/>
              </a:solidFill>
            </a:endParaRPr>
          </a:p>
          <a:p>
            <a:pPr algn="l">
              <a:lnSpc>
                <a:spcPct val="108000"/>
              </a:lnSpc>
              <a:buSzPct val="100000"/>
            </a:pPr>
            <a:endParaRPr lang="en-US" sz="1300" dirty="0">
              <a:solidFill>
                <a:schemeClr val="bg1"/>
              </a:solidFill>
            </a:endParaRPr>
          </a:p>
          <a:p>
            <a:pPr algn="l">
              <a:lnSpc>
                <a:spcPct val="108000"/>
              </a:lnSpc>
              <a:buSzPct val="100000"/>
            </a:pPr>
            <a:endParaRPr lang="en-US" sz="1300" dirty="0">
              <a:solidFill>
                <a:schemeClr val="bg1"/>
              </a:solidFill>
            </a:endParaRPr>
          </a:p>
        </p:txBody>
      </p:sp>
      <p:sp>
        <p:nvSpPr>
          <p:cNvPr id="8" name="Text 6"/>
          <p:cNvSpPr/>
          <p:nvPr/>
        </p:nvSpPr>
        <p:spPr>
          <a:xfrm>
            <a:off x="209545" y="4436963"/>
            <a:ext cx="7005165" cy="333375"/>
          </a:xfrm>
          <a:prstGeom prst="rect">
            <a:avLst/>
          </a:prstGeom>
          <a:noFill/>
          <a:ln/>
        </p:spPr>
        <p:txBody>
          <a:bodyPr wrap="square" lIns="0" tIns="0" rIns="0" bIns="0" rtlCol="0" anchor="t">
            <a:normAutofit/>
          </a:bodyPr>
          <a:lstStyle/>
          <a:p>
            <a:pPr marL="0" indent="0" algn="l">
              <a:lnSpc>
                <a:spcPct val="104000"/>
              </a:lnSpc>
              <a:buNone/>
            </a:pPr>
            <a:endParaRPr lang="en-US" sz="1050" dirty="0"/>
          </a:p>
        </p:txBody>
      </p:sp>
      <p:sp>
        <p:nvSpPr>
          <p:cNvPr id="9" name="Shape 7"/>
          <p:cNvSpPr/>
          <p:nvPr/>
        </p:nvSpPr>
        <p:spPr>
          <a:xfrm>
            <a:off x="7576551" y="2968129"/>
            <a:ext cx="4615144" cy="3889871"/>
          </a:xfrm>
          <a:prstGeom prst="roundRect">
            <a:avLst>
              <a:gd name="adj" fmla="val 1567"/>
            </a:avLst>
          </a:prstGeom>
          <a:solidFill>
            <a:srgbClr val="1F6B50"/>
          </a:solidFill>
          <a:ln w="31749">
            <a:solidFill>
              <a:srgbClr val="F2D13A"/>
            </a:solidFill>
            <a:prstDash val="solid"/>
          </a:ln>
        </p:spPr>
      </p:sp>
      <p:sp>
        <p:nvSpPr>
          <p:cNvPr id="10" name="Text 8"/>
          <p:cNvSpPr/>
          <p:nvPr/>
        </p:nvSpPr>
        <p:spPr>
          <a:xfrm>
            <a:off x="7811495" y="3180854"/>
            <a:ext cx="4380200" cy="159941"/>
          </a:xfrm>
          <a:prstGeom prst="rect">
            <a:avLst/>
          </a:prstGeom>
          <a:noFill/>
          <a:ln/>
        </p:spPr>
        <p:txBody>
          <a:bodyPr wrap="none" lIns="0" tIns="0" rIns="0" bIns="0" rtlCol="0" anchor="t"/>
          <a:lstStyle/>
          <a:p>
            <a:pPr marL="0" indent="0" algn="l">
              <a:lnSpc>
                <a:spcPct val="100000"/>
              </a:lnSpc>
              <a:buNone/>
            </a:pPr>
            <a:r>
              <a:rPr lang="en-US" sz="2000" b="1" kern="100" spc="63" dirty="0">
                <a:solidFill>
                  <a:srgbClr val="FFFFFF"/>
                </a:solidFill>
                <a:latin typeface="JetBrains Mono Medium" pitchFamily="34" charset="0"/>
                <a:cs typeface="JetBrains Mono Medium" pitchFamily="34" charset="-120"/>
              </a:rPr>
              <a:t>The Map of India</a:t>
            </a:r>
            <a:endParaRPr lang="en-US" sz="2000" b="1" dirty="0"/>
          </a:p>
        </p:txBody>
      </p:sp>
      <p:sp>
        <p:nvSpPr>
          <p:cNvPr id="11" name="Text 9"/>
          <p:cNvSpPr/>
          <p:nvPr/>
        </p:nvSpPr>
        <p:spPr>
          <a:xfrm>
            <a:off x="7811495" y="3426520"/>
            <a:ext cx="4145256" cy="457200"/>
          </a:xfrm>
          <a:prstGeom prst="rect">
            <a:avLst/>
          </a:prstGeom>
          <a:noFill/>
          <a:ln/>
        </p:spPr>
        <p:txBody>
          <a:bodyPr wrap="none" lIns="0" tIns="0" rIns="0" bIns="0" rtlCol="0" anchor="t"/>
          <a:lstStyle/>
          <a:p>
            <a:pPr marL="0" indent="0" algn="l">
              <a:lnSpc>
                <a:spcPct val="83000"/>
              </a:lnSpc>
              <a:buNone/>
            </a:pPr>
            <a:endParaRPr lang="en-US" sz="3600" dirty="0"/>
          </a:p>
        </p:txBody>
      </p:sp>
      <p:sp>
        <p:nvSpPr>
          <p:cNvPr id="12" name="Text 10"/>
          <p:cNvSpPr/>
          <p:nvPr/>
        </p:nvSpPr>
        <p:spPr>
          <a:xfrm>
            <a:off x="7811495" y="3972620"/>
            <a:ext cx="4380200" cy="214610"/>
          </a:xfrm>
          <a:prstGeom prst="rect">
            <a:avLst/>
          </a:prstGeom>
          <a:noFill/>
          <a:ln/>
        </p:spPr>
        <p:txBody>
          <a:bodyPr wrap="none" lIns="0" tIns="0" rIns="0" bIns="0" rtlCol="0" anchor="t"/>
          <a:lstStyle/>
          <a:p>
            <a:pPr marL="0" indent="0" algn="l">
              <a:lnSpc>
                <a:spcPct val="108000"/>
              </a:lnSpc>
              <a:buNone/>
            </a:pPr>
            <a:endParaRPr lang="en-US" sz="1300" dirty="0"/>
          </a:p>
        </p:txBody>
      </p:sp>
      <p:sp>
        <p:nvSpPr>
          <p:cNvPr id="13" name="Shape 11"/>
          <p:cNvSpPr/>
          <p:nvPr/>
        </p:nvSpPr>
        <p:spPr>
          <a:xfrm>
            <a:off x="7811495" y="4342805"/>
            <a:ext cx="4145156" cy="19050"/>
          </a:xfrm>
          <a:prstGeom prst="roundRect">
            <a:avLst>
              <a:gd name="adj" fmla="val 49999"/>
            </a:avLst>
          </a:prstGeom>
          <a:solidFill>
            <a:srgbClr val="1F6B50"/>
          </a:solidFill>
          <a:ln/>
        </p:spPr>
      </p:sp>
      <p:sp>
        <p:nvSpPr>
          <p:cNvPr id="14" name="Text 12"/>
          <p:cNvSpPr/>
          <p:nvPr/>
        </p:nvSpPr>
        <p:spPr>
          <a:xfrm>
            <a:off x="7811495" y="4657130"/>
            <a:ext cx="4145256" cy="457200"/>
          </a:xfrm>
          <a:prstGeom prst="rect">
            <a:avLst/>
          </a:prstGeom>
          <a:noFill/>
          <a:ln/>
        </p:spPr>
        <p:txBody>
          <a:bodyPr wrap="none" lIns="0" tIns="0" rIns="0" bIns="0" rtlCol="0" anchor="t"/>
          <a:lstStyle/>
          <a:p>
            <a:pPr marL="0" indent="0" algn="l">
              <a:lnSpc>
                <a:spcPct val="83000"/>
              </a:lnSpc>
              <a:buNone/>
            </a:pPr>
            <a:endParaRPr lang="en-US" sz="3600" dirty="0"/>
          </a:p>
        </p:txBody>
      </p:sp>
      <p:sp>
        <p:nvSpPr>
          <p:cNvPr id="15" name="Text 13"/>
          <p:cNvSpPr/>
          <p:nvPr/>
        </p:nvSpPr>
        <p:spPr>
          <a:xfrm>
            <a:off x="7811495" y="5203230"/>
            <a:ext cx="4380200" cy="214610"/>
          </a:xfrm>
          <a:prstGeom prst="rect">
            <a:avLst/>
          </a:prstGeom>
          <a:noFill/>
          <a:ln/>
        </p:spPr>
        <p:txBody>
          <a:bodyPr wrap="none" lIns="0" tIns="0" rIns="0" bIns="0" rtlCol="0" anchor="t"/>
          <a:lstStyle/>
          <a:p>
            <a:pPr marL="0" indent="0" algn="l">
              <a:lnSpc>
                <a:spcPct val="108000"/>
              </a:lnSpc>
              <a:buNone/>
            </a:pPr>
            <a:endParaRPr lang="en-US" sz="1300" dirty="0"/>
          </a:p>
        </p:txBody>
      </p:sp>
      <p:sp>
        <p:nvSpPr>
          <p:cNvPr id="16" name="Shape 14"/>
          <p:cNvSpPr/>
          <p:nvPr/>
        </p:nvSpPr>
        <p:spPr>
          <a:xfrm>
            <a:off x="7811495" y="5573415"/>
            <a:ext cx="4145156" cy="19050"/>
          </a:xfrm>
          <a:prstGeom prst="roundRect">
            <a:avLst>
              <a:gd name="adj" fmla="val 49999"/>
            </a:avLst>
          </a:prstGeom>
          <a:solidFill>
            <a:srgbClr val="1F6B50"/>
          </a:solidFill>
          <a:ln/>
        </p:spPr>
      </p:sp>
      <p:sp>
        <p:nvSpPr>
          <p:cNvPr id="17" name="Text 15"/>
          <p:cNvSpPr/>
          <p:nvPr/>
        </p:nvSpPr>
        <p:spPr>
          <a:xfrm>
            <a:off x="7811495" y="5887740"/>
            <a:ext cx="4145256" cy="457200"/>
          </a:xfrm>
          <a:prstGeom prst="rect">
            <a:avLst/>
          </a:prstGeom>
          <a:noFill/>
          <a:ln/>
        </p:spPr>
        <p:txBody>
          <a:bodyPr wrap="none" lIns="0" tIns="0" rIns="0" bIns="0" rtlCol="0" anchor="t"/>
          <a:lstStyle/>
          <a:p>
            <a:pPr marL="0" indent="0" algn="l">
              <a:lnSpc>
                <a:spcPct val="83000"/>
              </a:lnSpc>
              <a:buNone/>
            </a:pPr>
            <a:endParaRPr lang="en-US" sz="3600" dirty="0"/>
          </a:p>
        </p:txBody>
      </p:sp>
      <p:sp>
        <p:nvSpPr>
          <p:cNvPr id="18" name="Text 16"/>
          <p:cNvSpPr/>
          <p:nvPr/>
        </p:nvSpPr>
        <p:spPr>
          <a:xfrm>
            <a:off x="7811495" y="6433840"/>
            <a:ext cx="4380200" cy="214610"/>
          </a:xfrm>
          <a:prstGeom prst="rect">
            <a:avLst/>
          </a:prstGeom>
          <a:noFill/>
          <a:ln/>
        </p:spPr>
        <p:txBody>
          <a:bodyPr wrap="none" lIns="0" tIns="0" rIns="0" bIns="0" rtlCol="0" anchor="t"/>
          <a:lstStyle/>
          <a:p>
            <a:pPr marL="0" indent="0" algn="l">
              <a:lnSpc>
                <a:spcPct val="108000"/>
              </a:lnSpc>
              <a:buNone/>
            </a:pPr>
            <a:endParaRPr lang="en-US" sz="1300" dirty="0"/>
          </a:p>
        </p:txBody>
      </p:sp>
      <p:pic>
        <p:nvPicPr>
          <p:cNvPr id="21" name="Picture 20">
            <a:extLst>
              <a:ext uri="{FF2B5EF4-FFF2-40B4-BE49-F238E27FC236}">
                <a16:creationId xmlns:a16="http://schemas.microsoft.com/office/drawing/2014/main" id="{FCF217C9-94F8-05D4-6DF7-C5D78AE7360F}"/>
              </a:ext>
            </a:extLst>
          </p:cNvPr>
          <p:cNvPicPr>
            <a:picLocks noChangeAspect="1"/>
          </p:cNvPicPr>
          <p:nvPr/>
        </p:nvPicPr>
        <p:blipFill>
          <a:blip r:embed="rId3"/>
          <a:stretch>
            <a:fillRect/>
          </a:stretch>
        </p:blipFill>
        <p:spPr>
          <a:xfrm>
            <a:off x="506196" y="980374"/>
            <a:ext cx="10643069" cy="1270992"/>
          </a:xfrm>
          <a:prstGeom prst="rect">
            <a:avLst/>
          </a:prstGeom>
        </p:spPr>
      </p:pic>
      <p:pic>
        <p:nvPicPr>
          <p:cNvPr id="23" name="Picture 22">
            <a:extLst>
              <a:ext uri="{FF2B5EF4-FFF2-40B4-BE49-F238E27FC236}">
                <a16:creationId xmlns:a16="http://schemas.microsoft.com/office/drawing/2014/main" id="{297533E7-9ACB-44CF-E3F2-9727B36C0A20}"/>
              </a:ext>
            </a:extLst>
          </p:cNvPr>
          <p:cNvPicPr>
            <a:picLocks noChangeAspect="1"/>
          </p:cNvPicPr>
          <p:nvPr/>
        </p:nvPicPr>
        <p:blipFill>
          <a:blip r:embed="rId4"/>
          <a:stretch>
            <a:fillRect/>
          </a:stretch>
        </p:blipFill>
        <p:spPr>
          <a:xfrm>
            <a:off x="7967663" y="3547815"/>
            <a:ext cx="3832819" cy="29933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F987753-6303-1057-3804-C8084D877248}"/>
              </a:ext>
            </a:extLst>
          </p:cNvPr>
          <p:cNvPicPr>
            <a:picLocks noChangeAspect="1"/>
          </p:cNvPicPr>
          <p:nvPr/>
        </p:nvPicPr>
        <p:blipFill>
          <a:blip r:embed="rId2"/>
          <a:stretch>
            <a:fillRect/>
          </a:stretch>
        </p:blipFill>
        <p:spPr>
          <a:xfrm>
            <a:off x="542187" y="4048188"/>
            <a:ext cx="4045856" cy="243828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a:extLst>
              <a:ext uri="{FF2B5EF4-FFF2-40B4-BE49-F238E27FC236}">
                <a16:creationId xmlns:a16="http://schemas.microsoft.com/office/drawing/2014/main" id="{806BBAF8-3E31-8096-6F3D-9F2B440CC6F6}"/>
              </a:ext>
            </a:extLst>
          </p:cNvPr>
          <p:cNvPicPr>
            <a:picLocks noChangeAspect="1"/>
          </p:cNvPicPr>
          <p:nvPr/>
        </p:nvPicPr>
        <p:blipFill>
          <a:blip r:embed="rId3"/>
          <a:stretch>
            <a:fillRect/>
          </a:stretch>
        </p:blipFill>
        <p:spPr>
          <a:xfrm>
            <a:off x="7347284" y="379857"/>
            <a:ext cx="3929895" cy="276467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1" name="Picture 10">
            <a:extLst>
              <a:ext uri="{FF2B5EF4-FFF2-40B4-BE49-F238E27FC236}">
                <a16:creationId xmlns:a16="http://schemas.microsoft.com/office/drawing/2014/main" id="{F2F553B8-FAEB-664A-74FB-5E7D089E3C6A}"/>
              </a:ext>
            </a:extLst>
          </p:cNvPr>
          <p:cNvPicPr>
            <a:picLocks noChangeAspect="1"/>
          </p:cNvPicPr>
          <p:nvPr/>
        </p:nvPicPr>
        <p:blipFill>
          <a:blip r:embed="rId4"/>
          <a:stretch>
            <a:fillRect/>
          </a:stretch>
        </p:blipFill>
        <p:spPr>
          <a:xfrm>
            <a:off x="351204" y="644007"/>
            <a:ext cx="4677996" cy="239423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3" name="Picture 12">
            <a:extLst>
              <a:ext uri="{FF2B5EF4-FFF2-40B4-BE49-F238E27FC236}">
                <a16:creationId xmlns:a16="http://schemas.microsoft.com/office/drawing/2014/main" id="{5A01280C-FCAE-43EF-DB8B-708EB2E6E964}"/>
              </a:ext>
            </a:extLst>
          </p:cNvPr>
          <p:cNvPicPr>
            <a:picLocks noChangeAspect="1"/>
          </p:cNvPicPr>
          <p:nvPr/>
        </p:nvPicPr>
        <p:blipFill>
          <a:blip r:embed="rId5"/>
          <a:stretch>
            <a:fillRect/>
          </a:stretch>
        </p:blipFill>
        <p:spPr>
          <a:xfrm>
            <a:off x="7276507" y="4140371"/>
            <a:ext cx="3734985" cy="225391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6" name="TextBox 15">
            <a:extLst>
              <a:ext uri="{FF2B5EF4-FFF2-40B4-BE49-F238E27FC236}">
                <a16:creationId xmlns:a16="http://schemas.microsoft.com/office/drawing/2014/main" id="{9011D664-A7BE-8724-6722-393108CDAB8C}"/>
              </a:ext>
            </a:extLst>
          </p:cNvPr>
          <p:cNvSpPr txBox="1"/>
          <p:nvPr/>
        </p:nvSpPr>
        <p:spPr>
          <a:xfrm>
            <a:off x="3529263" y="3250827"/>
            <a:ext cx="6096000" cy="584775"/>
          </a:xfrm>
          <a:prstGeom prst="rect">
            <a:avLst/>
          </a:prstGeom>
          <a:noFill/>
        </p:spPr>
        <p:txBody>
          <a:bodyPr wrap="square">
            <a:spAutoFit/>
          </a:bodyPr>
          <a:lstStyle/>
          <a:p>
            <a:r>
              <a:rPr lang="en-US" sz="3200" b="1" dirty="0">
                <a:solidFill>
                  <a:schemeClr val="bg1"/>
                </a:solidFill>
                <a:latin typeface="Algerian" panose="04020705040A02060702" pitchFamily="82" charset="0"/>
              </a:rPr>
              <a:t>Revenue </a:t>
            </a:r>
            <a:r>
              <a:rPr lang="en-US" sz="3200" b="1" dirty="0" err="1">
                <a:solidFill>
                  <a:schemeClr val="bg1"/>
                </a:solidFill>
                <a:latin typeface="Algerian" panose="04020705040A02060702" pitchFamily="82" charset="0"/>
              </a:rPr>
              <a:t>GenerateD</a:t>
            </a:r>
            <a:endParaRPr lang="en-US" sz="3200" b="1" dirty="0">
              <a:solidFill>
                <a:schemeClr val="bg1"/>
              </a:solidFill>
              <a:latin typeface="Algerian" panose="04020705040A02060702" pitchFamily="82" charset="0"/>
            </a:endParaRPr>
          </a:p>
        </p:txBody>
      </p:sp>
    </p:spTree>
    <p:extLst>
      <p:ext uri="{BB962C8B-B14F-4D97-AF65-F5344CB8AC3E}">
        <p14:creationId xmlns:p14="http://schemas.microsoft.com/office/powerpoint/2010/main" val="503719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380990" y="613606"/>
            <a:ext cx="11429714" cy="383977"/>
          </a:xfrm>
          <a:prstGeom prst="rect">
            <a:avLst/>
          </a:prstGeom>
          <a:noFill/>
          <a:ln/>
        </p:spPr>
        <p:txBody>
          <a:bodyPr wrap="none" lIns="0" tIns="0" rIns="0" bIns="0" rtlCol="0" anchor="t"/>
          <a:lstStyle/>
          <a:p>
            <a:pPr marL="0" indent="0" algn="l">
              <a:lnSpc>
                <a:spcPct val="90000"/>
              </a:lnSpc>
              <a:buNone/>
            </a:pPr>
            <a:r>
              <a:rPr lang="en-US" sz="2800" dirty="0">
                <a:solidFill>
                  <a:schemeClr val="bg1"/>
                </a:solidFill>
                <a:latin typeface="Algerian" panose="04020705040A02060702" pitchFamily="82" charset="0"/>
              </a:rPr>
              <a:t>The various charts used</a:t>
            </a:r>
          </a:p>
        </p:txBody>
      </p:sp>
      <p:sp>
        <p:nvSpPr>
          <p:cNvPr id="4" name="Text 2"/>
          <p:cNvSpPr/>
          <p:nvPr/>
        </p:nvSpPr>
        <p:spPr>
          <a:xfrm>
            <a:off x="380990" y="1179909"/>
            <a:ext cx="11810705" cy="214610"/>
          </a:xfrm>
          <a:prstGeom prst="rect">
            <a:avLst/>
          </a:prstGeom>
          <a:noFill/>
          <a:ln/>
        </p:spPr>
        <p:txBody>
          <a:bodyPr wrap="none" lIns="0" tIns="0" rIns="0" bIns="0" rtlCol="0" anchor="t"/>
          <a:lstStyle/>
          <a:p>
            <a:pPr marL="0" indent="0" algn="l">
              <a:lnSpc>
                <a:spcPct val="108000"/>
              </a:lnSpc>
              <a:buNone/>
            </a:pPr>
            <a:r>
              <a:rPr lang="en-US" sz="1300" dirty="0">
                <a:solidFill>
                  <a:srgbClr val="E3ECE7"/>
                </a:solidFill>
                <a:latin typeface="Fira Sans Condensed" pitchFamily="34" charset="0"/>
                <a:ea typeface="Fira Sans Condensed" pitchFamily="34" charset="-122"/>
                <a:cs typeface="Fira Sans Condensed" pitchFamily="34" charset="-120"/>
              </a:rPr>
              <a:t>A KPI, or key performance indicator, gives the audience a fast read before the detailed charts.</a:t>
            </a:r>
            <a:endParaRPr lang="en-US" sz="1300" dirty="0"/>
          </a:p>
        </p:txBody>
      </p:sp>
      <p:sp>
        <p:nvSpPr>
          <p:cNvPr id="5" name="Shape 3"/>
          <p:cNvSpPr/>
          <p:nvPr/>
        </p:nvSpPr>
        <p:spPr>
          <a:xfrm>
            <a:off x="380990" y="1508820"/>
            <a:ext cx="3708307" cy="4968180"/>
          </a:xfrm>
          <a:prstGeom prst="roundRect">
            <a:avLst>
              <a:gd name="adj" fmla="val 1644"/>
            </a:avLst>
          </a:prstGeom>
          <a:solidFill>
            <a:srgbClr val="F2D13A"/>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609585" y="1737420"/>
            <a:ext cx="330192" cy="330200"/>
          </a:xfrm>
          <a:prstGeom prst="rect">
            <a:avLst/>
          </a:prstGeom>
        </p:spPr>
      </p:pic>
      <p:sp>
        <p:nvSpPr>
          <p:cNvPr id="7" name="Text 4"/>
          <p:cNvSpPr/>
          <p:nvPr/>
        </p:nvSpPr>
        <p:spPr>
          <a:xfrm>
            <a:off x="609585" y="2143820"/>
            <a:ext cx="3479713" cy="159941"/>
          </a:xfrm>
          <a:prstGeom prst="rect">
            <a:avLst/>
          </a:prstGeom>
          <a:noFill/>
          <a:ln/>
        </p:spPr>
        <p:txBody>
          <a:bodyPr wrap="none" lIns="0" tIns="0" rIns="0" bIns="0" rtlCol="0" anchor="t"/>
          <a:lstStyle/>
          <a:p>
            <a:pPr marL="0" indent="0" algn="l">
              <a:lnSpc>
                <a:spcPct val="100000"/>
              </a:lnSpc>
              <a:buNone/>
            </a:pPr>
            <a:endParaRPr lang="en-US" sz="1050" dirty="0"/>
          </a:p>
        </p:txBody>
      </p:sp>
      <p:sp>
        <p:nvSpPr>
          <p:cNvPr id="8" name="Text 5"/>
          <p:cNvSpPr/>
          <p:nvPr/>
        </p:nvSpPr>
        <p:spPr>
          <a:xfrm>
            <a:off x="609585" y="2403773"/>
            <a:ext cx="3251119" cy="609600"/>
          </a:xfrm>
          <a:prstGeom prst="rect">
            <a:avLst/>
          </a:prstGeom>
          <a:noFill/>
          <a:ln/>
        </p:spPr>
        <p:txBody>
          <a:bodyPr wrap="none" lIns="0" tIns="0" rIns="0" bIns="0" rtlCol="0" anchor="t"/>
          <a:lstStyle/>
          <a:p>
            <a:pPr marL="0" indent="0" algn="l">
              <a:lnSpc>
                <a:spcPct val="83000"/>
              </a:lnSpc>
              <a:buNone/>
            </a:pPr>
            <a:endParaRPr lang="en-US" sz="4800" dirty="0"/>
          </a:p>
        </p:txBody>
      </p:sp>
      <p:sp>
        <p:nvSpPr>
          <p:cNvPr id="9" name="Text 6"/>
          <p:cNvSpPr/>
          <p:nvPr/>
        </p:nvSpPr>
        <p:spPr>
          <a:xfrm>
            <a:off x="609585" y="3087985"/>
            <a:ext cx="3479713" cy="214610"/>
          </a:xfrm>
          <a:prstGeom prst="rect">
            <a:avLst/>
          </a:prstGeom>
          <a:noFill/>
          <a:ln/>
        </p:spPr>
        <p:txBody>
          <a:bodyPr wrap="none" lIns="0" tIns="0" rIns="0" bIns="0" rtlCol="0" anchor="t"/>
          <a:lstStyle/>
          <a:p>
            <a:pPr marL="0" indent="0" algn="l">
              <a:lnSpc>
                <a:spcPct val="108000"/>
              </a:lnSpc>
              <a:buNone/>
            </a:pPr>
            <a:r>
              <a:rPr lang="en-US" sz="1300" dirty="0">
                <a:solidFill>
                  <a:srgbClr val="000000"/>
                </a:solidFill>
                <a:latin typeface="Fira Sans Condensed" pitchFamily="34" charset="0"/>
                <a:ea typeface="Fira Sans Condensed" pitchFamily="34" charset="-122"/>
                <a:cs typeface="Fira Sans Condensed" pitchFamily="34" charset="-120"/>
              </a:rPr>
              <a:t>.</a:t>
            </a:r>
            <a:endParaRPr lang="en-US" sz="1300" dirty="0"/>
          </a:p>
        </p:txBody>
      </p:sp>
      <p:sp>
        <p:nvSpPr>
          <p:cNvPr id="10" name="Shape 7"/>
          <p:cNvSpPr/>
          <p:nvPr/>
        </p:nvSpPr>
        <p:spPr>
          <a:xfrm>
            <a:off x="4241694" y="1508820"/>
            <a:ext cx="3708307" cy="4968180"/>
          </a:xfrm>
          <a:prstGeom prst="roundRect">
            <a:avLst>
              <a:gd name="adj" fmla="val 1644"/>
            </a:avLst>
          </a:prstGeom>
          <a:solidFill>
            <a:srgbClr val="DDF2E8"/>
          </a:solidFill>
          <a:ln/>
        </p:spPr>
      </p:sp>
      <p:pic>
        <p:nvPicPr>
          <p:cNvPr id="11" name="Image 1" descr="preencoded.png"/>
          <p:cNvPicPr>
            <a:picLocks noChangeAspect="1"/>
          </p:cNvPicPr>
          <p:nvPr/>
        </p:nvPicPr>
        <p:blipFill>
          <a:blip r:embed="rId4"/>
          <a:stretch>
            <a:fillRect/>
          </a:stretch>
        </p:blipFill>
        <p:spPr>
          <a:xfrm>
            <a:off x="4470288" y="1737420"/>
            <a:ext cx="330192" cy="330200"/>
          </a:xfrm>
          <a:prstGeom prst="rect">
            <a:avLst/>
          </a:prstGeom>
        </p:spPr>
      </p:pic>
      <p:sp>
        <p:nvSpPr>
          <p:cNvPr id="12" name="Text 8"/>
          <p:cNvSpPr/>
          <p:nvPr/>
        </p:nvSpPr>
        <p:spPr>
          <a:xfrm>
            <a:off x="4470288" y="2143820"/>
            <a:ext cx="3479713" cy="159941"/>
          </a:xfrm>
          <a:prstGeom prst="rect">
            <a:avLst/>
          </a:prstGeom>
          <a:noFill/>
          <a:ln/>
        </p:spPr>
        <p:txBody>
          <a:bodyPr wrap="none" lIns="0" tIns="0" rIns="0" bIns="0" rtlCol="0" anchor="t"/>
          <a:lstStyle/>
          <a:p>
            <a:pPr marL="0" indent="0" algn="l">
              <a:lnSpc>
                <a:spcPct val="100000"/>
              </a:lnSpc>
              <a:buNone/>
            </a:pPr>
            <a:r>
              <a:rPr lang="en-US" sz="1050" kern="100" spc="63" dirty="0">
                <a:solidFill>
                  <a:srgbClr val="000000"/>
                </a:solidFill>
                <a:latin typeface="JetBrains Mono Medium" pitchFamily="34" charset="0"/>
                <a:ea typeface="JetBrains Mono Medium" pitchFamily="34" charset="-122"/>
                <a:cs typeface="JetBrains Mono Medium" pitchFamily="34" charset="-120"/>
              </a:rPr>
              <a:t>02 / AVERAGE ORDER VALUE</a:t>
            </a:r>
            <a:endParaRPr lang="en-US" sz="1050" dirty="0"/>
          </a:p>
        </p:txBody>
      </p:sp>
      <p:sp>
        <p:nvSpPr>
          <p:cNvPr id="13" name="Text 9"/>
          <p:cNvSpPr/>
          <p:nvPr/>
        </p:nvSpPr>
        <p:spPr>
          <a:xfrm>
            <a:off x="4470288" y="2403773"/>
            <a:ext cx="3251119" cy="609600"/>
          </a:xfrm>
          <a:prstGeom prst="rect">
            <a:avLst/>
          </a:prstGeom>
          <a:noFill/>
          <a:ln/>
        </p:spPr>
        <p:txBody>
          <a:bodyPr wrap="none" lIns="0" tIns="0" rIns="0" bIns="0" rtlCol="0" anchor="t"/>
          <a:lstStyle/>
          <a:p>
            <a:pPr marL="0" indent="0" algn="l">
              <a:lnSpc>
                <a:spcPct val="83000"/>
              </a:lnSpc>
              <a:buNone/>
            </a:pPr>
            <a:endParaRPr lang="en-US" sz="4800" dirty="0"/>
          </a:p>
        </p:txBody>
      </p:sp>
      <p:sp>
        <p:nvSpPr>
          <p:cNvPr id="14" name="Text 10"/>
          <p:cNvSpPr/>
          <p:nvPr/>
        </p:nvSpPr>
        <p:spPr>
          <a:xfrm>
            <a:off x="4470288" y="3087985"/>
            <a:ext cx="3251119" cy="429220"/>
          </a:xfrm>
          <a:prstGeom prst="rect">
            <a:avLst/>
          </a:prstGeom>
          <a:noFill/>
          <a:ln/>
        </p:spPr>
        <p:txBody>
          <a:bodyPr wrap="square" lIns="0" tIns="0" rIns="0" bIns="0" rtlCol="0" anchor="t">
            <a:normAutofit/>
          </a:bodyPr>
          <a:lstStyle/>
          <a:p>
            <a:pPr marL="0" indent="0" algn="l">
              <a:lnSpc>
                <a:spcPct val="108000"/>
              </a:lnSpc>
              <a:buNone/>
            </a:pPr>
            <a:endParaRPr lang="en-US" sz="1300" dirty="0"/>
          </a:p>
        </p:txBody>
      </p:sp>
      <p:sp>
        <p:nvSpPr>
          <p:cNvPr id="15" name="Shape 11"/>
          <p:cNvSpPr/>
          <p:nvPr/>
        </p:nvSpPr>
        <p:spPr>
          <a:xfrm>
            <a:off x="8102397" y="1508820"/>
            <a:ext cx="3708307" cy="4968180"/>
          </a:xfrm>
          <a:prstGeom prst="roundRect">
            <a:avLst>
              <a:gd name="adj" fmla="val 1644"/>
            </a:avLst>
          </a:prstGeom>
          <a:solidFill>
            <a:srgbClr val="B9D3C6"/>
          </a:solidFill>
          <a:ln/>
        </p:spPr>
      </p:sp>
      <p:pic>
        <p:nvPicPr>
          <p:cNvPr id="16" name="Image 2" descr="preencoded.png"/>
          <p:cNvPicPr>
            <a:picLocks noChangeAspect="1"/>
          </p:cNvPicPr>
          <p:nvPr/>
        </p:nvPicPr>
        <p:blipFill>
          <a:blip r:embed="rId5"/>
          <a:stretch>
            <a:fillRect/>
          </a:stretch>
        </p:blipFill>
        <p:spPr>
          <a:xfrm>
            <a:off x="8330992" y="1737420"/>
            <a:ext cx="330192" cy="330200"/>
          </a:xfrm>
          <a:prstGeom prst="rect">
            <a:avLst/>
          </a:prstGeom>
        </p:spPr>
      </p:pic>
      <p:sp>
        <p:nvSpPr>
          <p:cNvPr id="17" name="Text 12"/>
          <p:cNvSpPr/>
          <p:nvPr/>
        </p:nvSpPr>
        <p:spPr>
          <a:xfrm>
            <a:off x="8330992" y="2143820"/>
            <a:ext cx="3479713" cy="159941"/>
          </a:xfrm>
          <a:prstGeom prst="rect">
            <a:avLst/>
          </a:prstGeom>
          <a:noFill/>
          <a:ln/>
        </p:spPr>
        <p:txBody>
          <a:bodyPr wrap="none" lIns="0" tIns="0" rIns="0" bIns="0" rtlCol="0" anchor="t"/>
          <a:lstStyle/>
          <a:p>
            <a:pPr marL="0" indent="0" algn="l">
              <a:lnSpc>
                <a:spcPct val="100000"/>
              </a:lnSpc>
              <a:buNone/>
            </a:pPr>
            <a:r>
              <a:rPr lang="en-US" sz="1050" kern="100" spc="63" dirty="0">
                <a:solidFill>
                  <a:srgbClr val="000000"/>
                </a:solidFill>
                <a:latin typeface="JetBrains Mono Medium" pitchFamily="34" charset="0"/>
                <a:ea typeface="JetBrains Mono Medium" pitchFamily="34" charset="-122"/>
                <a:cs typeface="JetBrains Mono Medium" pitchFamily="34" charset="-120"/>
              </a:rPr>
              <a:t>03 / TOTAL QUANTITY</a:t>
            </a:r>
            <a:endParaRPr lang="en-US" sz="1050" dirty="0"/>
          </a:p>
        </p:txBody>
      </p:sp>
      <p:sp>
        <p:nvSpPr>
          <p:cNvPr id="18" name="Text 13"/>
          <p:cNvSpPr/>
          <p:nvPr/>
        </p:nvSpPr>
        <p:spPr>
          <a:xfrm>
            <a:off x="8330992" y="2403773"/>
            <a:ext cx="3251119" cy="609600"/>
          </a:xfrm>
          <a:prstGeom prst="rect">
            <a:avLst/>
          </a:prstGeom>
          <a:noFill/>
          <a:ln/>
        </p:spPr>
        <p:txBody>
          <a:bodyPr wrap="none" lIns="0" tIns="0" rIns="0" bIns="0" rtlCol="0" anchor="t"/>
          <a:lstStyle/>
          <a:p>
            <a:pPr marL="0" indent="0" algn="l">
              <a:lnSpc>
                <a:spcPct val="83000"/>
              </a:lnSpc>
              <a:buNone/>
            </a:pPr>
            <a:endParaRPr lang="en-US" sz="4800" dirty="0"/>
          </a:p>
        </p:txBody>
      </p:sp>
      <p:sp>
        <p:nvSpPr>
          <p:cNvPr id="19" name="Text 14"/>
          <p:cNvSpPr/>
          <p:nvPr/>
        </p:nvSpPr>
        <p:spPr>
          <a:xfrm>
            <a:off x="8330992" y="3087985"/>
            <a:ext cx="3479713" cy="214610"/>
          </a:xfrm>
          <a:prstGeom prst="rect">
            <a:avLst/>
          </a:prstGeom>
          <a:noFill/>
          <a:ln/>
        </p:spPr>
        <p:txBody>
          <a:bodyPr wrap="none" lIns="0" tIns="0" rIns="0" bIns="0" rtlCol="0" anchor="t"/>
          <a:lstStyle/>
          <a:p>
            <a:pPr marL="0" indent="0" algn="l">
              <a:lnSpc>
                <a:spcPct val="108000"/>
              </a:lnSpc>
              <a:buNone/>
            </a:pPr>
            <a:endParaRPr lang="en-US" sz="1300" dirty="0"/>
          </a:p>
        </p:txBody>
      </p:sp>
      <p:pic>
        <p:nvPicPr>
          <p:cNvPr id="21" name="Picture 20">
            <a:extLst>
              <a:ext uri="{FF2B5EF4-FFF2-40B4-BE49-F238E27FC236}">
                <a16:creationId xmlns:a16="http://schemas.microsoft.com/office/drawing/2014/main" id="{C9936DB1-9D9B-8F1F-9974-E2945738422F}"/>
              </a:ext>
            </a:extLst>
          </p:cNvPr>
          <p:cNvPicPr>
            <a:picLocks noChangeAspect="1"/>
          </p:cNvPicPr>
          <p:nvPr/>
        </p:nvPicPr>
        <p:blipFill>
          <a:blip r:embed="rId6"/>
          <a:stretch>
            <a:fillRect/>
          </a:stretch>
        </p:blipFill>
        <p:spPr>
          <a:xfrm>
            <a:off x="554230" y="1628982"/>
            <a:ext cx="3361825" cy="2650250"/>
          </a:xfrm>
          <a:prstGeom prst="rect">
            <a:avLst/>
          </a:prstGeom>
        </p:spPr>
      </p:pic>
      <p:pic>
        <p:nvPicPr>
          <p:cNvPr id="25" name="Picture 24">
            <a:extLst>
              <a:ext uri="{FF2B5EF4-FFF2-40B4-BE49-F238E27FC236}">
                <a16:creationId xmlns:a16="http://schemas.microsoft.com/office/drawing/2014/main" id="{77C83D82-5A32-2E9F-F676-795313594582}"/>
              </a:ext>
            </a:extLst>
          </p:cNvPr>
          <p:cNvPicPr>
            <a:picLocks noChangeAspect="1"/>
          </p:cNvPicPr>
          <p:nvPr/>
        </p:nvPicPr>
        <p:blipFill>
          <a:blip r:embed="rId7"/>
          <a:stretch>
            <a:fillRect/>
          </a:stretch>
        </p:blipFill>
        <p:spPr>
          <a:xfrm>
            <a:off x="4419454" y="1626903"/>
            <a:ext cx="3353091" cy="2766300"/>
          </a:xfrm>
          <a:prstGeom prst="rect">
            <a:avLst/>
          </a:prstGeom>
        </p:spPr>
      </p:pic>
      <p:pic>
        <p:nvPicPr>
          <p:cNvPr id="27" name="Picture 26">
            <a:extLst>
              <a:ext uri="{FF2B5EF4-FFF2-40B4-BE49-F238E27FC236}">
                <a16:creationId xmlns:a16="http://schemas.microsoft.com/office/drawing/2014/main" id="{54CDE6AF-8C12-DB5E-5475-195547C24045}"/>
              </a:ext>
            </a:extLst>
          </p:cNvPr>
          <p:cNvPicPr>
            <a:picLocks noChangeAspect="1"/>
          </p:cNvPicPr>
          <p:nvPr/>
        </p:nvPicPr>
        <p:blipFill>
          <a:blip r:embed="rId8"/>
          <a:stretch>
            <a:fillRect/>
          </a:stretch>
        </p:blipFill>
        <p:spPr>
          <a:xfrm>
            <a:off x="8261817" y="1604041"/>
            <a:ext cx="3375953" cy="2789162"/>
          </a:xfrm>
          <a:prstGeom prst="rect">
            <a:avLst/>
          </a:prstGeom>
        </p:spPr>
      </p:pic>
      <p:sp>
        <p:nvSpPr>
          <p:cNvPr id="28" name="TextBox 27">
            <a:extLst>
              <a:ext uri="{FF2B5EF4-FFF2-40B4-BE49-F238E27FC236}">
                <a16:creationId xmlns:a16="http://schemas.microsoft.com/office/drawing/2014/main" id="{0566C115-5BB6-A05D-FA77-D8BDB079CEFB}"/>
              </a:ext>
            </a:extLst>
          </p:cNvPr>
          <p:cNvSpPr txBox="1"/>
          <p:nvPr/>
        </p:nvSpPr>
        <p:spPr>
          <a:xfrm>
            <a:off x="554230" y="4515853"/>
            <a:ext cx="3361825" cy="1938992"/>
          </a:xfrm>
          <a:prstGeom prst="rect">
            <a:avLst/>
          </a:prstGeom>
          <a:noFill/>
        </p:spPr>
        <p:txBody>
          <a:bodyPr wrap="square" rtlCol="0">
            <a:spAutoFit/>
          </a:bodyPr>
          <a:lstStyle/>
          <a:p>
            <a:r>
              <a:rPr lang="en-US" dirty="0"/>
              <a:t>Ribbon Chart</a:t>
            </a:r>
          </a:p>
          <a:p>
            <a:pPr marL="342900" lvl="0" indent="-342900">
              <a:buFont typeface="+mj-lt"/>
              <a:buAutoNum type="arabicPeriod"/>
            </a:pPr>
            <a:r>
              <a:rPr lang="en-US" sz="1400" dirty="0"/>
              <a:t>Compare products using their sales values.</a:t>
            </a:r>
          </a:p>
          <a:p>
            <a:pPr marL="342900" lvl="0" indent="-342900">
              <a:buFont typeface="+mj-lt"/>
              <a:buAutoNum type="arabicPeriod"/>
            </a:pPr>
            <a:r>
              <a:rPr lang="en-US" sz="1400" dirty="0"/>
              <a:t>It helps explore differences in sales performance between products.</a:t>
            </a:r>
          </a:p>
          <a:p>
            <a:pPr marL="342900" lvl="0" indent="-342900">
              <a:buFont typeface="+mj-lt"/>
              <a:buAutoNum type="arabicPeriod"/>
            </a:pPr>
            <a:r>
              <a:rPr lang="en-US" sz="1400" dirty="0"/>
              <a:t>The ranking helps identify products worth investigating further.</a:t>
            </a:r>
          </a:p>
          <a:p>
            <a:endParaRPr lang="en-US" dirty="0"/>
          </a:p>
        </p:txBody>
      </p:sp>
      <p:sp>
        <p:nvSpPr>
          <p:cNvPr id="29" name="TextBox 28">
            <a:extLst>
              <a:ext uri="{FF2B5EF4-FFF2-40B4-BE49-F238E27FC236}">
                <a16:creationId xmlns:a16="http://schemas.microsoft.com/office/drawing/2014/main" id="{C4446141-123C-CF5A-209D-C2E49902E409}"/>
              </a:ext>
            </a:extLst>
          </p:cNvPr>
          <p:cNvSpPr txBox="1"/>
          <p:nvPr/>
        </p:nvSpPr>
        <p:spPr>
          <a:xfrm>
            <a:off x="4427322" y="4515853"/>
            <a:ext cx="3353091" cy="1661993"/>
          </a:xfrm>
          <a:prstGeom prst="rect">
            <a:avLst/>
          </a:prstGeom>
          <a:noFill/>
        </p:spPr>
        <p:txBody>
          <a:bodyPr wrap="square" rtlCol="0">
            <a:spAutoFit/>
          </a:bodyPr>
          <a:lstStyle/>
          <a:p>
            <a:r>
              <a:rPr lang="en-US" dirty="0"/>
              <a:t>Area Chart</a:t>
            </a:r>
          </a:p>
          <a:p>
            <a:pPr marL="342900" indent="-342900">
              <a:buFont typeface="+mj-lt"/>
              <a:buAutoNum type="arabicPeriod"/>
            </a:pPr>
            <a:r>
              <a:rPr lang="en-US" sz="1400" dirty="0"/>
              <a:t>Displays how sales change over time.</a:t>
            </a:r>
          </a:p>
          <a:p>
            <a:pPr marL="342900" indent="-342900">
              <a:buFont typeface="+mj-lt"/>
              <a:buAutoNum type="arabicPeriod"/>
            </a:pPr>
            <a:r>
              <a:rPr lang="en-US" sz="1400" dirty="0"/>
              <a:t>Peaks indicate periods of higher sales activity.</a:t>
            </a:r>
          </a:p>
          <a:p>
            <a:pPr marL="342900" indent="-342900">
              <a:buFont typeface="+mj-lt"/>
              <a:buAutoNum type="arabicPeriod"/>
            </a:pPr>
            <a:r>
              <a:rPr lang="en-US" sz="1400" dirty="0"/>
              <a:t>Starting and ending of the year have more sales than  the middle of the year.</a:t>
            </a:r>
          </a:p>
        </p:txBody>
      </p:sp>
      <p:sp>
        <p:nvSpPr>
          <p:cNvPr id="30" name="TextBox 29">
            <a:extLst>
              <a:ext uri="{FF2B5EF4-FFF2-40B4-BE49-F238E27FC236}">
                <a16:creationId xmlns:a16="http://schemas.microsoft.com/office/drawing/2014/main" id="{DE38D2AD-D794-E9BF-9DD1-709DD59696DC}"/>
              </a:ext>
            </a:extLst>
          </p:cNvPr>
          <p:cNvSpPr txBox="1"/>
          <p:nvPr/>
        </p:nvSpPr>
        <p:spPr>
          <a:xfrm>
            <a:off x="8261817" y="4684295"/>
            <a:ext cx="3375953" cy="1508105"/>
          </a:xfrm>
          <a:prstGeom prst="rect">
            <a:avLst/>
          </a:prstGeom>
          <a:noFill/>
        </p:spPr>
        <p:txBody>
          <a:bodyPr wrap="square" rtlCol="0">
            <a:spAutoFit/>
          </a:bodyPr>
          <a:lstStyle/>
          <a:p>
            <a:r>
              <a:rPr lang="en-US" dirty="0"/>
              <a:t>Tree Map</a:t>
            </a:r>
          </a:p>
          <a:p>
            <a:pPr marL="342900" indent="-342900">
              <a:buFont typeface="+mj-lt"/>
              <a:buAutoNum type="arabicPeriod"/>
            </a:pPr>
            <a:r>
              <a:rPr lang="en-US" sz="1400" dirty="0"/>
              <a:t>The </a:t>
            </a:r>
            <a:r>
              <a:rPr lang="en-US" sz="1400" dirty="0" err="1"/>
              <a:t>treemap</a:t>
            </a:r>
            <a:r>
              <a:rPr lang="en-US" sz="1400" dirty="0"/>
              <a:t> compares sales across product categories.</a:t>
            </a:r>
          </a:p>
          <a:p>
            <a:pPr marL="342900" indent="-342900">
              <a:buFont typeface="+mj-lt"/>
              <a:buAutoNum type="arabicPeriod"/>
            </a:pPr>
            <a:r>
              <a:rPr lang="en-US" sz="1400" dirty="0"/>
              <a:t>High demand has been seen in perishable products such as veggies and dairy items</a:t>
            </a:r>
            <a:r>
              <a:rPr 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nvSpPr>
        <p:spPr>
          <a:xfrm>
            <a:off x="380990" y="613606"/>
            <a:ext cx="11429714" cy="383977"/>
          </a:xfrm>
          <a:prstGeom prst="rect">
            <a:avLst/>
          </a:prstGeom>
          <a:noFill/>
          <a:ln/>
        </p:spPr>
        <p:txBody>
          <a:bodyPr wrap="none" lIns="0" tIns="0" rIns="0" bIns="0" rtlCol="0" anchor="t"/>
          <a:lstStyle/>
          <a:p>
            <a:pPr marL="0" indent="0" algn="l">
              <a:lnSpc>
                <a:spcPct val="90000"/>
              </a:lnSpc>
              <a:buNone/>
            </a:pPr>
            <a:endParaRPr lang="en-US" sz="2800" dirty="0"/>
          </a:p>
        </p:txBody>
      </p:sp>
      <p:sp>
        <p:nvSpPr>
          <p:cNvPr id="6" name="Text 4"/>
          <p:cNvSpPr/>
          <p:nvPr/>
        </p:nvSpPr>
        <p:spPr>
          <a:xfrm>
            <a:off x="253994" y="3733800"/>
            <a:ext cx="6969645" cy="214610"/>
          </a:xfrm>
          <a:prstGeom prst="rect">
            <a:avLst/>
          </a:prstGeom>
          <a:noFill/>
          <a:ln/>
        </p:spPr>
        <p:txBody>
          <a:bodyPr wrap="none" lIns="0" tIns="0" rIns="0" bIns="0" rtlCol="0" anchor="t"/>
          <a:lstStyle/>
          <a:p>
            <a:pPr marL="0" indent="0" algn="l">
              <a:lnSpc>
                <a:spcPct val="108000"/>
              </a:lnSpc>
              <a:buNone/>
            </a:pPr>
            <a:endParaRPr lang="en-US" sz="1300" dirty="0"/>
          </a:p>
        </p:txBody>
      </p:sp>
      <p:sp>
        <p:nvSpPr>
          <p:cNvPr id="9" name="Text 7"/>
          <p:cNvSpPr/>
          <p:nvPr/>
        </p:nvSpPr>
        <p:spPr>
          <a:xfrm>
            <a:off x="431789" y="4503638"/>
            <a:ext cx="2925987" cy="609600"/>
          </a:xfrm>
          <a:prstGeom prst="rect">
            <a:avLst/>
          </a:prstGeom>
          <a:noFill/>
          <a:ln/>
        </p:spPr>
        <p:txBody>
          <a:bodyPr wrap="none" lIns="0" tIns="0" rIns="0" bIns="0" rtlCol="0" anchor="t"/>
          <a:lstStyle/>
          <a:p>
            <a:pPr marL="0" indent="0" algn="l">
              <a:lnSpc>
                <a:spcPct val="83000"/>
              </a:lnSpc>
              <a:buNone/>
            </a:pPr>
            <a:endParaRPr lang="en-US" sz="4800" dirty="0"/>
          </a:p>
        </p:txBody>
      </p:sp>
      <p:sp>
        <p:nvSpPr>
          <p:cNvPr id="10" name="Text 8"/>
          <p:cNvSpPr/>
          <p:nvPr/>
        </p:nvSpPr>
        <p:spPr>
          <a:xfrm>
            <a:off x="431789" y="5187851"/>
            <a:ext cx="3103783" cy="214610"/>
          </a:xfrm>
          <a:prstGeom prst="rect">
            <a:avLst/>
          </a:prstGeom>
          <a:noFill/>
          <a:ln/>
        </p:spPr>
        <p:txBody>
          <a:bodyPr wrap="none" lIns="0" tIns="0" rIns="0" bIns="0" rtlCol="0" anchor="t"/>
          <a:lstStyle/>
          <a:p>
            <a:pPr marL="0" indent="0" algn="l">
              <a:lnSpc>
                <a:spcPct val="108000"/>
              </a:lnSpc>
              <a:buNone/>
            </a:pPr>
            <a:r>
              <a:rPr lang="en-US" sz="1300" dirty="0">
                <a:solidFill>
                  <a:srgbClr val="000000"/>
                </a:solidFill>
                <a:latin typeface="Fira Sans Condensed" pitchFamily="34" charset="0"/>
                <a:ea typeface="Fira Sans Condensed" pitchFamily="34" charset="-122"/>
                <a:cs typeface="Fira Sans Condensed" pitchFamily="34" charset="-120"/>
              </a:rPr>
              <a:t>.</a:t>
            </a:r>
            <a:endParaRPr lang="en-US" sz="1300" dirty="0"/>
          </a:p>
        </p:txBody>
      </p:sp>
      <p:sp>
        <p:nvSpPr>
          <p:cNvPr id="12" name="Text 10"/>
          <p:cNvSpPr/>
          <p:nvPr/>
        </p:nvSpPr>
        <p:spPr>
          <a:xfrm>
            <a:off x="3865763" y="4243685"/>
            <a:ext cx="3103882" cy="159941"/>
          </a:xfrm>
          <a:prstGeom prst="rect">
            <a:avLst/>
          </a:prstGeom>
          <a:noFill/>
          <a:ln/>
        </p:spPr>
        <p:txBody>
          <a:bodyPr wrap="none" lIns="0" tIns="0" rIns="0" bIns="0" rtlCol="0" anchor="t"/>
          <a:lstStyle/>
          <a:p>
            <a:pPr marL="0" indent="0" algn="l">
              <a:lnSpc>
                <a:spcPct val="100000"/>
              </a:lnSpc>
              <a:buNone/>
            </a:pPr>
            <a:endParaRPr lang="en-US" sz="1050" dirty="0"/>
          </a:p>
        </p:txBody>
      </p:sp>
      <p:sp>
        <p:nvSpPr>
          <p:cNvPr id="13" name="Text 11"/>
          <p:cNvSpPr/>
          <p:nvPr/>
        </p:nvSpPr>
        <p:spPr>
          <a:xfrm>
            <a:off x="3865763" y="4503638"/>
            <a:ext cx="2926086" cy="609600"/>
          </a:xfrm>
          <a:prstGeom prst="rect">
            <a:avLst/>
          </a:prstGeom>
          <a:noFill/>
          <a:ln/>
        </p:spPr>
        <p:txBody>
          <a:bodyPr wrap="none" lIns="0" tIns="0" rIns="0" bIns="0" rtlCol="0" anchor="t"/>
          <a:lstStyle/>
          <a:p>
            <a:pPr marL="0" indent="0" algn="l">
              <a:lnSpc>
                <a:spcPct val="83000"/>
              </a:lnSpc>
              <a:buNone/>
            </a:pPr>
            <a:endParaRPr lang="en-US" sz="4800" dirty="0"/>
          </a:p>
        </p:txBody>
      </p:sp>
      <p:sp>
        <p:nvSpPr>
          <p:cNvPr id="14" name="Text 12"/>
          <p:cNvSpPr/>
          <p:nvPr/>
        </p:nvSpPr>
        <p:spPr>
          <a:xfrm>
            <a:off x="3865763" y="5187851"/>
            <a:ext cx="3103882" cy="214610"/>
          </a:xfrm>
          <a:prstGeom prst="rect">
            <a:avLst/>
          </a:prstGeom>
          <a:noFill/>
          <a:ln/>
        </p:spPr>
        <p:txBody>
          <a:bodyPr wrap="none" lIns="0" tIns="0" rIns="0" bIns="0" rtlCol="0" anchor="t"/>
          <a:lstStyle/>
          <a:p>
            <a:pPr marL="0" indent="0" algn="l">
              <a:lnSpc>
                <a:spcPct val="108000"/>
              </a:lnSpc>
              <a:buNone/>
            </a:pPr>
            <a:endParaRPr lang="en-US" sz="1300" dirty="0"/>
          </a:p>
        </p:txBody>
      </p:sp>
      <p:sp>
        <p:nvSpPr>
          <p:cNvPr id="16" name="Text 14"/>
          <p:cNvSpPr/>
          <p:nvPr/>
        </p:nvSpPr>
        <p:spPr>
          <a:xfrm>
            <a:off x="7629929" y="3736975"/>
            <a:ext cx="4561766" cy="159941"/>
          </a:xfrm>
          <a:prstGeom prst="rect">
            <a:avLst/>
          </a:prstGeom>
          <a:noFill/>
          <a:ln/>
        </p:spPr>
        <p:txBody>
          <a:bodyPr wrap="none" lIns="0" tIns="0" rIns="0" bIns="0" rtlCol="0" anchor="t"/>
          <a:lstStyle/>
          <a:p>
            <a:pPr marL="0" indent="0" algn="l">
              <a:lnSpc>
                <a:spcPct val="100000"/>
              </a:lnSpc>
              <a:buNone/>
            </a:pPr>
            <a:endParaRPr lang="en-US" sz="1050" dirty="0"/>
          </a:p>
        </p:txBody>
      </p:sp>
      <p:sp>
        <p:nvSpPr>
          <p:cNvPr id="17" name="Text 15"/>
          <p:cNvSpPr/>
          <p:nvPr/>
        </p:nvSpPr>
        <p:spPr>
          <a:xfrm>
            <a:off x="7629929" y="3949303"/>
            <a:ext cx="4307772" cy="219075"/>
          </a:xfrm>
          <a:prstGeom prst="rect">
            <a:avLst/>
          </a:prstGeom>
          <a:noFill/>
          <a:ln/>
        </p:spPr>
        <p:txBody>
          <a:bodyPr wrap="none" lIns="0" tIns="0" rIns="0" bIns="0" rtlCol="0" anchor="t"/>
          <a:lstStyle/>
          <a:p>
            <a:pPr marL="0" indent="0" algn="l">
              <a:lnSpc>
                <a:spcPct val="96000"/>
              </a:lnSpc>
              <a:buNone/>
            </a:pPr>
            <a:endParaRPr lang="en-US" sz="1500" dirty="0"/>
          </a:p>
        </p:txBody>
      </p:sp>
      <p:sp>
        <p:nvSpPr>
          <p:cNvPr id="18" name="Text 16"/>
          <p:cNvSpPr/>
          <p:nvPr/>
        </p:nvSpPr>
        <p:spPr>
          <a:xfrm>
            <a:off x="7629929" y="4255691"/>
            <a:ext cx="4307772" cy="429220"/>
          </a:xfrm>
          <a:prstGeom prst="rect">
            <a:avLst/>
          </a:prstGeom>
          <a:noFill/>
          <a:ln/>
        </p:spPr>
        <p:txBody>
          <a:bodyPr wrap="square" lIns="0" tIns="0" rIns="0" bIns="0" rtlCol="0" anchor="t">
            <a:normAutofit/>
          </a:bodyPr>
          <a:lstStyle/>
          <a:p>
            <a:pPr marL="0" indent="0" algn="l">
              <a:lnSpc>
                <a:spcPct val="108000"/>
              </a:lnSpc>
              <a:buNone/>
            </a:pPr>
            <a:endParaRPr lang="en-US" sz="1300" dirty="0"/>
          </a:p>
        </p:txBody>
      </p:sp>
      <p:sp>
        <p:nvSpPr>
          <p:cNvPr id="20" name="Text 18"/>
          <p:cNvSpPr/>
          <p:nvPr/>
        </p:nvSpPr>
        <p:spPr>
          <a:xfrm>
            <a:off x="7629929" y="5021064"/>
            <a:ext cx="4307772" cy="333375"/>
          </a:xfrm>
          <a:prstGeom prst="rect">
            <a:avLst/>
          </a:prstGeom>
          <a:noFill/>
          <a:ln/>
        </p:spPr>
        <p:txBody>
          <a:bodyPr wrap="square" lIns="0" tIns="0" rIns="0" bIns="0" rtlCol="0" anchor="t">
            <a:normAutofit/>
          </a:bodyPr>
          <a:lstStyle/>
          <a:p>
            <a:pPr marL="0" indent="0" algn="l">
              <a:lnSpc>
                <a:spcPct val="104000"/>
              </a:lnSpc>
              <a:buNone/>
            </a:pPr>
            <a:endParaRPr lang="en-US" sz="1050" dirty="0"/>
          </a:p>
        </p:txBody>
      </p:sp>
      <p:pic>
        <p:nvPicPr>
          <p:cNvPr id="22" name="Picture 21">
            <a:extLst>
              <a:ext uri="{FF2B5EF4-FFF2-40B4-BE49-F238E27FC236}">
                <a16:creationId xmlns:a16="http://schemas.microsoft.com/office/drawing/2014/main" id="{77C3B7E2-670B-9A09-570B-2F7533CDA679}"/>
              </a:ext>
            </a:extLst>
          </p:cNvPr>
          <p:cNvPicPr>
            <a:picLocks noChangeAspect="1"/>
          </p:cNvPicPr>
          <p:nvPr/>
        </p:nvPicPr>
        <p:blipFill>
          <a:blip r:embed="rId3"/>
          <a:stretch>
            <a:fillRect/>
          </a:stretch>
        </p:blipFill>
        <p:spPr>
          <a:xfrm>
            <a:off x="1058394" y="520431"/>
            <a:ext cx="5614737" cy="337648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11" name="Shape 9"/>
          <p:cNvSpPr/>
          <p:nvPr/>
        </p:nvSpPr>
        <p:spPr>
          <a:xfrm>
            <a:off x="8269172" y="512056"/>
            <a:ext cx="3281677" cy="1517551"/>
          </a:xfrm>
          <a:prstGeom prst="roundRect">
            <a:avLst>
              <a:gd name="adj" fmla="val 4017"/>
            </a:avLst>
          </a:prstGeom>
          <a:solidFill>
            <a:srgbClr val="DDF2E8"/>
          </a:solidFill>
          <a:ln/>
        </p:spPr>
        <p:txBody>
          <a:bodyPr/>
          <a:lstStyle/>
          <a:p>
            <a:endParaRPr lang="en-US" dirty="0"/>
          </a:p>
        </p:txBody>
      </p:sp>
      <p:sp>
        <p:nvSpPr>
          <p:cNvPr id="7" name="Shape 5"/>
          <p:cNvSpPr/>
          <p:nvPr/>
        </p:nvSpPr>
        <p:spPr>
          <a:xfrm>
            <a:off x="8284205" y="2650827"/>
            <a:ext cx="3281578" cy="1517551"/>
          </a:xfrm>
          <a:prstGeom prst="roundRect">
            <a:avLst>
              <a:gd name="adj" fmla="val 4017"/>
            </a:avLst>
          </a:prstGeom>
          <a:solidFill>
            <a:srgbClr val="F2D13A"/>
          </a:solidFill>
          <a:ln/>
        </p:spPr>
        <p:txBody>
          <a:bodyPr/>
          <a:lstStyle/>
          <a:p>
            <a:endParaRPr lang="en-US" dirty="0"/>
          </a:p>
        </p:txBody>
      </p:sp>
      <p:sp>
        <p:nvSpPr>
          <p:cNvPr id="24" name="Shape 5">
            <a:extLst>
              <a:ext uri="{FF2B5EF4-FFF2-40B4-BE49-F238E27FC236}">
                <a16:creationId xmlns:a16="http://schemas.microsoft.com/office/drawing/2014/main" id="{9EA8BDCF-79D4-04AF-8E43-B893741EBF07}"/>
              </a:ext>
            </a:extLst>
          </p:cNvPr>
          <p:cNvSpPr/>
          <p:nvPr/>
        </p:nvSpPr>
        <p:spPr>
          <a:xfrm>
            <a:off x="4519012" y="4321124"/>
            <a:ext cx="3281578" cy="1517551"/>
          </a:xfrm>
          <a:prstGeom prst="roundRect">
            <a:avLst>
              <a:gd name="adj" fmla="val 4017"/>
            </a:avLst>
          </a:prstGeom>
          <a:solidFill>
            <a:srgbClr val="F2D13A"/>
          </a:solidFill>
          <a:ln/>
        </p:spPr>
      </p:sp>
      <p:sp>
        <p:nvSpPr>
          <p:cNvPr id="26" name="Shape 9">
            <a:extLst>
              <a:ext uri="{FF2B5EF4-FFF2-40B4-BE49-F238E27FC236}">
                <a16:creationId xmlns:a16="http://schemas.microsoft.com/office/drawing/2014/main" id="{A97CA7BA-2050-4BEC-4682-C4FE668DFDE6}"/>
              </a:ext>
            </a:extLst>
          </p:cNvPr>
          <p:cNvSpPr/>
          <p:nvPr/>
        </p:nvSpPr>
        <p:spPr>
          <a:xfrm>
            <a:off x="8357403" y="4808438"/>
            <a:ext cx="3281677" cy="1517551"/>
          </a:xfrm>
          <a:prstGeom prst="roundRect">
            <a:avLst>
              <a:gd name="adj" fmla="val 4017"/>
            </a:avLst>
          </a:prstGeom>
          <a:solidFill>
            <a:srgbClr val="DDF2E8"/>
          </a:solidFill>
          <a:ln/>
        </p:spPr>
        <p:txBody>
          <a:bodyPr/>
          <a:lstStyle/>
          <a:p>
            <a:endParaRPr lang="en-US" dirty="0"/>
          </a:p>
        </p:txBody>
      </p:sp>
      <p:sp>
        <p:nvSpPr>
          <p:cNvPr id="27" name="TextBox 26">
            <a:extLst>
              <a:ext uri="{FF2B5EF4-FFF2-40B4-BE49-F238E27FC236}">
                <a16:creationId xmlns:a16="http://schemas.microsoft.com/office/drawing/2014/main" id="{1B29883E-49F0-6131-8E01-B6DA91C6C2E1}"/>
              </a:ext>
            </a:extLst>
          </p:cNvPr>
          <p:cNvSpPr txBox="1"/>
          <p:nvPr/>
        </p:nvSpPr>
        <p:spPr>
          <a:xfrm>
            <a:off x="8333874" y="719925"/>
            <a:ext cx="3023936" cy="1077218"/>
          </a:xfrm>
          <a:prstGeom prst="rect">
            <a:avLst/>
          </a:prstGeom>
          <a:noFill/>
        </p:spPr>
        <p:txBody>
          <a:bodyPr wrap="square" rtlCol="0">
            <a:spAutoFit/>
          </a:bodyPr>
          <a:lstStyle/>
          <a:p>
            <a:pPr algn="ctr"/>
            <a:r>
              <a:rPr lang="en-US" sz="2400" dirty="0">
                <a:latin typeface="Agency FB" panose="020B0503020202020204" pitchFamily="34" charset="0"/>
              </a:rPr>
              <a:t>Clustered Bar Chart</a:t>
            </a:r>
          </a:p>
          <a:p>
            <a:pPr algn="ctr"/>
            <a:r>
              <a:rPr lang="en-US" sz="2000" dirty="0">
                <a:solidFill>
                  <a:srgbClr val="FF0000"/>
                </a:solidFill>
                <a:latin typeface="Aptos Narrow" panose="020B0004020202020204" pitchFamily="34" charset="0"/>
              </a:rPr>
              <a:t>Total Sales by Product Category</a:t>
            </a:r>
          </a:p>
        </p:txBody>
      </p:sp>
      <p:sp>
        <p:nvSpPr>
          <p:cNvPr id="28" name="TextBox 27">
            <a:extLst>
              <a:ext uri="{FF2B5EF4-FFF2-40B4-BE49-F238E27FC236}">
                <a16:creationId xmlns:a16="http://schemas.microsoft.com/office/drawing/2014/main" id="{8FA268FF-C0E8-3F23-17C8-7C5670AADE66}"/>
              </a:ext>
            </a:extLst>
          </p:cNvPr>
          <p:cNvSpPr txBox="1"/>
          <p:nvPr/>
        </p:nvSpPr>
        <p:spPr>
          <a:xfrm>
            <a:off x="8502316" y="2893878"/>
            <a:ext cx="2991853" cy="1015663"/>
          </a:xfrm>
          <a:prstGeom prst="rect">
            <a:avLst/>
          </a:prstGeom>
          <a:noFill/>
        </p:spPr>
        <p:txBody>
          <a:bodyPr wrap="square" rtlCol="0">
            <a:spAutoFit/>
          </a:bodyPr>
          <a:lstStyle/>
          <a:p>
            <a:r>
              <a:rPr lang="en-US" sz="2000" dirty="0"/>
              <a:t>On an avg, dairy seems to achieve the highest sales rate as a daily commodity.</a:t>
            </a:r>
          </a:p>
        </p:txBody>
      </p:sp>
      <p:sp>
        <p:nvSpPr>
          <p:cNvPr id="29" name="TextBox 28">
            <a:extLst>
              <a:ext uri="{FF2B5EF4-FFF2-40B4-BE49-F238E27FC236}">
                <a16:creationId xmlns:a16="http://schemas.microsoft.com/office/drawing/2014/main" id="{02DB0365-100B-DF75-A91F-786E22B8C709}"/>
              </a:ext>
            </a:extLst>
          </p:cNvPr>
          <p:cNvSpPr txBox="1"/>
          <p:nvPr/>
        </p:nvSpPr>
        <p:spPr>
          <a:xfrm>
            <a:off x="8535198" y="4967048"/>
            <a:ext cx="3103882" cy="1200329"/>
          </a:xfrm>
          <a:prstGeom prst="rect">
            <a:avLst/>
          </a:prstGeom>
          <a:noFill/>
        </p:spPr>
        <p:txBody>
          <a:bodyPr wrap="square" rtlCol="0">
            <a:spAutoFit/>
          </a:bodyPr>
          <a:lstStyle/>
          <a:p>
            <a:r>
              <a:rPr lang="en-US" dirty="0">
                <a:solidFill>
                  <a:srgbClr val="FF0000"/>
                </a:solidFill>
              </a:rPr>
              <a:t>Key indication:</a:t>
            </a:r>
          </a:p>
          <a:p>
            <a:r>
              <a:rPr lang="en-US" dirty="0"/>
              <a:t>To ensure availability of dairy stock in </a:t>
            </a:r>
            <a:r>
              <a:rPr lang="en-US" dirty="0" err="1"/>
              <a:t>blinkit</a:t>
            </a:r>
            <a:r>
              <a:rPr lang="en-US" dirty="0"/>
              <a:t> stores through out the cities.</a:t>
            </a:r>
          </a:p>
        </p:txBody>
      </p:sp>
      <p:sp>
        <p:nvSpPr>
          <p:cNvPr id="30" name="TextBox 29">
            <a:extLst>
              <a:ext uri="{FF2B5EF4-FFF2-40B4-BE49-F238E27FC236}">
                <a16:creationId xmlns:a16="http://schemas.microsoft.com/office/drawing/2014/main" id="{185159A8-0267-5209-7F6E-232A921AC2F8}"/>
              </a:ext>
            </a:extLst>
          </p:cNvPr>
          <p:cNvSpPr txBox="1"/>
          <p:nvPr/>
        </p:nvSpPr>
        <p:spPr>
          <a:xfrm>
            <a:off x="4700655" y="4541092"/>
            <a:ext cx="3023936" cy="1200329"/>
          </a:xfrm>
          <a:prstGeom prst="rect">
            <a:avLst/>
          </a:prstGeom>
          <a:noFill/>
        </p:spPr>
        <p:txBody>
          <a:bodyPr wrap="square" rtlCol="0">
            <a:spAutoFit/>
          </a:bodyPr>
          <a:lstStyle/>
          <a:p>
            <a:r>
              <a:rPr lang="en-US" dirty="0"/>
              <a:t>More people tend to purchase dairy products from </a:t>
            </a:r>
            <a:r>
              <a:rPr lang="en-US" dirty="0" err="1"/>
              <a:t>Banglore</a:t>
            </a:r>
            <a:r>
              <a:rPr lang="en-US" dirty="0"/>
              <a:t>, Kolkata and Mumbai, the fast </a:t>
            </a:r>
            <a:r>
              <a:rPr lang="en-US" dirty="0" err="1"/>
              <a:t>metropolitian</a:t>
            </a:r>
            <a:r>
              <a:rPr lang="en-US" dirty="0"/>
              <a:t> cities.</a:t>
            </a:r>
          </a:p>
        </p:txBody>
      </p:sp>
      <p:sp>
        <p:nvSpPr>
          <p:cNvPr id="32" name="Shape 9">
            <a:extLst>
              <a:ext uri="{FF2B5EF4-FFF2-40B4-BE49-F238E27FC236}">
                <a16:creationId xmlns:a16="http://schemas.microsoft.com/office/drawing/2014/main" id="{58EB6628-EEFC-B324-5D75-E6EBCB63FBD0}"/>
              </a:ext>
            </a:extLst>
          </p:cNvPr>
          <p:cNvSpPr/>
          <p:nvPr/>
        </p:nvSpPr>
        <p:spPr>
          <a:xfrm>
            <a:off x="507079" y="4321124"/>
            <a:ext cx="3281677" cy="1517551"/>
          </a:xfrm>
          <a:prstGeom prst="roundRect">
            <a:avLst>
              <a:gd name="adj" fmla="val 4017"/>
            </a:avLst>
          </a:prstGeom>
          <a:solidFill>
            <a:srgbClr val="DDF2E8"/>
          </a:solidFill>
          <a:ln/>
        </p:spPr>
        <p:txBody>
          <a:bodyPr/>
          <a:lstStyle/>
          <a:p>
            <a:endParaRPr lang="en-US" dirty="0"/>
          </a:p>
        </p:txBody>
      </p:sp>
      <p:sp>
        <p:nvSpPr>
          <p:cNvPr id="33" name="TextBox 32">
            <a:extLst>
              <a:ext uri="{FF2B5EF4-FFF2-40B4-BE49-F238E27FC236}">
                <a16:creationId xmlns:a16="http://schemas.microsoft.com/office/drawing/2014/main" id="{65F79659-9EE9-DD1B-AAD6-A97EEFA8BDA7}"/>
              </a:ext>
            </a:extLst>
          </p:cNvPr>
          <p:cNvSpPr txBox="1"/>
          <p:nvPr/>
        </p:nvSpPr>
        <p:spPr>
          <a:xfrm>
            <a:off x="661341" y="4573218"/>
            <a:ext cx="2949521" cy="923330"/>
          </a:xfrm>
          <a:prstGeom prst="rect">
            <a:avLst/>
          </a:prstGeom>
          <a:noFill/>
        </p:spPr>
        <p:txBody>
          <a:bodyPr wrap="square" rtlCol="0">
            <a:spAutoFit/>
          </a:bodyPr>
          <a:lstStyle/>
          <a:p>
            <a:r>
              <a:rPr lang="en-US" dirty="0"/>
              <a:t>Chennai tends to have the highest demand for Fruits being near the coat in India.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80990" y="384175"/>
            <a:ext cx="11810705"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9FE3C4"/>
                </a:solidFill>
                <a:latin typeface="JetBrains Mono Medium" pitchFamily="34" charset="0"/>
                <a:ea typeface="JetBrains Mono Medium" pitchFamily="34" charset="-122"/>
                <a:cs typeface="JetBrains Mono Medium" pitchFamily="34" charset="-120"/>
              </a:rPr>
              <a:t>813 ORDERS</a:t>
            </a:r>
            <a:endParaRPr lang="en-US" sz="1050" dirty="0"/>
          </a:p>
        </p:txBody>
      </p:sp>
      <p:sp>
        <p:nvSpPr>
          <p:cNvPr id="3" name="Text 1"/>
          <p:cNvSpPr/>
          <p:nvPr/>
        </p:nvSpPr>
        <p:spPr>
          <a:xfrm>
            <a:off x="380990" y="613606"/>
            <a:ext cx="11429714" cy="1677644"/>
          </a:xfrm>
          <a:prstGeom prst="rect">
            <a:avLst/>
          </a:prstGeom>
          <a:noFill/>
          <a:ln/>
        </p:spPr>
        <p:txBody>
          <a:bodyPr wrap="none" lIns="0" tIns="0" rIns="0" bIns="0" rtlCol="0" anchor="t"/>
          <a:lstStyle/>
          <a:p>
            <a:pPr marL="0" indent="0" algn="l">
              <a:lnSpc>
                <a:spcPct val="90000"/>
              </a:lnSpc>
              <a:buNone/>
            </a:pPr>
            <a:r>
              <a:rPr lang="en-US" sz="2400" kern="100" spc="-14" dirty="0">
                <a:solidFill>
                  <a:srgbClr val="F4F3EC"/>
                </a:solidFill>
                <a:latin typeface="Fira Sans Condensed SemiBold" pitchFamily="34" charset="0"/>
                <a:ea typeface="Fira Sans Condensed SemiBold" pitchFamily="34" charset="-122"/>
                <a:cs typeface="Fira Sans Condensed SemiBold" pitchFamily="34" charset="-120"/>
              </a:rPr>
              <a:t>Bulk and single-item orders make up almost the entire mix.</a:t>
            </a:r>
          </a:p>
          <a:p>
            <a:pPr marL="0" indent="0" algn="l">
              <a:lnSpc>
                <a:spcPct val="90000"/>
              </a:lnSpc>
              <a:buNone/>
            </a:pPr>
            <a:r>
              <a:rPr lang="en-US" sz="2400" kern="100" spc="-14" dirty="0">
                <a:solidFill>
                  <a:srgbClr val="F4F3EC"/>
                </a:solidFill>
                <a:latin typeface="Fira Sans Condensed SemiBold" pitchFamily="34" charset="0"/>
                <a:ea typeface="Fira Sans Condensed SemiBold" pitchFamily="34" charset="-122"/>
                <a:cs typeface="Fira Sans Condensed SemiBold" pitchFamily="34" charset="-120"/>
              </a:rPr>
              <a:t>Customers purchase items in bulk </a:t>
            </a:r>
            <a:r>
              <a:rPr lang="en-US" sz="2400" kern="100" spc="-14" dirty="0" err="1">
                <a:solidFill>
                  <a:srgbClr val="F4F3EC"/>
                </a:solidFill>
                <a:latin typeface="Fira Sans Condensed SemiBold" pitchFamily="34" charset="0"/>
                <a:ea typeface="Fira Sans Condensed SemiBold" pitchFamily="34" charset="-122"/>
                <a:cs typeface="Fira Sans Condensed SemiBold" pitchFamily="34" charset="-120"/>
              </a:rPr>
              <a:t>upto</a:t>
            </a:r>
            <a:r>
              <a:rPr lang="en-US" sz="2400" kern="100" spc="-14" dirty="0">
                <a:solidFill>
                  <a:srgbClr val="F4F3EC"/>
                </a:solidFill>
                <a:latin typeface="Fira Sans Condensed SemiBold" pitchFamily="34" charset="0"/>
                <a:ea typeface="Fira Sans Condensed SemiBold" pitchFamily="34" charset="-122"/>
                <a:cs typeface="Fira Sans Condensed SemiBold" pitchFamily="34" charset="-120"/>
              </a:rPr>
              <a:t> 5-7 goods per order.</a:t>
            </a:r>
          </a:p>
          <a:p>
            <a:pPr marL="0" indent="0" algn="l">
              <a:lnSpc>
                <a:spcPct val="90000"/>
              </a:lnSpc>
              <a:buNone/>
            </a:pPr>
            <a:r>
              <a:rPr lang="en-US" sz="2400" kern="100" spc="-14" dirty="0">
                <a:solidFill>
                  <a:srgbClr val="F4F3EC"/>
                </a:solidFill>
                <a:latin typeface="Fira Sans Condensed SemiBold" pitchFamily="34" charset="0"/>
              </a:rPr>
              <a:t>The reason: Single orders mostly are charged service fees and </a:t>
            </a:r>
          </a:p>
          <a:p>
            <a:pPr marL="0" indent="0" algn="l">
              <a:lnSpc>
                <a:spcPct val="90000"/>
              </a:lnSpc>
              <a:buNone/>
            </a:pPr>
            <a:r>
              <a:rPr lang="en-US" sz="2400" kern="100" spc="-14" dirty="0">
                <a:solidFill>
                  <a:srgbClr val="F4F3EC"/>
                </a:solidFill>
                <a:latin typeface="Fira Sans Condensed SemiBold" pitchFamily="34" charset="0"/>
              </a:rPr>
              <a:t>transportation cost.</a:t>
            </a:r>
            <a:endParaRPr lang="en-US" sz="2400" dirty="0"/>
          </a:p>
        </p:txBody>
      </p:sp>
      <p:sp>
        <p:nvSpPr>
          <p:cNvPr id="4" name="Shape 2"/>
          <p:cNvSpPr/>
          <p:nvPr/>
        </p:nvSpPr>
        <p:spPr>
          <a:xfrm>
            <a:off x="0" y="2589709"/>
            <a:ext cx="7424254" cy="4268291"/>
          </a:xfrm>
          <a:prstGeom prst="roundRect">
            <a:avLst>
              <a:gd name="adj" fmla="val 1428"/>
            </a:avLst>
          </a:prstGeom>
          <a:solidFill>
            <a:srgbClr val="F4F3EC"/>
          </a:solidFill>
          <a:ln/>
        </p:spPr>
      </p:sp>
      <p:sp>
        <p:nvSpPr>
          <p:cNvPr id="6" name="Shape 3"/>
          <p:cNvSpPr/>
          <p:nvPr/>
        </p:nvSpPr>
        <p:spPr>
          <a:xfrm>
            <a:off x="7576551" y="2589709"/>
            <a:ext cx="4615144" cy="4268291"/>
          </a:xfrm>
          <a:prstGeom prst="roundRect">
            <a:avLst>
              <a:gd name="adj" fmla="val 1428"/>
            </a:avLst>
          </a:prstGeom>
          <a:noFill/>
          <a:ln w="31749">
            <a:solidFill>
              <a:srgbClr val="F2D13A"/>
            </a:solidFill>
            <a:prstDash val="solid"/>
          </a:ln>
        </p:spPr>
      </p:sp>
      <p:sp>
        <p:nvSpPr>
          <p:cNvPr id="7" name="Text 4"/>
          <p:cNvSpPr/>
          <p:nvPr/>
        </p:nvSpPr>
        <p:spPr>
          <a:xfrm>
            <a:off x="7836895" y="2827834"/>
            <a:ext cx="4354800" cy="159941"/>
          </a:xfrm>
          <a:prstGeom prst="rect">
            <a:avLst/>
          </a:prstGeom>
          <a:noFill/>
          <a:ln/>
        </p:spPr>
        <p:txBody>
          <a:bodyPr wrap="none" lIns="0" tIns="0" rIns="0" bIns="0" rtlCol="0" anchor="t"/>
          <a:lstStyle/>
          <a:p>
            <a:pPr marL="0" indent="0" algn="l">
              <a:lnSpc>
                <a:spcPct val="100000"/>
              </a:lnSpc>
              <a:buNone/>
            </a:pPr>
            <a:r>
              <a:rPr lang="en-US" sz="1050" kern="100" spc="63" dirty="0">
                <a:solidFill>
                  <a:srgbClr val="9FE3C4"/>
                </a:solidFill>
                <a:latin typeface="JetBrains Mono Medium" pitchFamily="34" charset="0"/>
                <a:ea typeface="JetBrains Mono Medium" pitchFamily="34" charset="-122"/>
                <a:cs typeface="JetBrains Mono Medium" pitchFamily="34" charset="-120"/>
              </a:rPr>
              <a:t>THE SPLIT</a:t>
            </a:r>
            <a:endParaRPr lang="en-US" sz="1050" dirty="0"/>
          </a:p>
        </p:txBody>
      </p:sp>
      <p:sp>
        <p:nvSpPr>
          <p:cNvPr id="8" name="Text 5"/>
          <p:cNvSpPr/>
          <p:nvPr/>
        </p:nvSpPr>
        <p:spPr>
          <a:xfrm>
            <a:off x="7836895" y="3073499"/>
            <a:ext cx="4094457" cy="457200"/>
          </a:xfrm>
          <a:prstGeom prst="rect">
            <a:avLst/>
          </a:prstGeom>
          <a:noFill/>
          <a:ln/>
        </p:spPr>
        <p:txBody>
          <a:bodyPr wrap="none" lIns="0" tIns="0" rIns="0" bIns="0" rtlCol="0" anchor="t"/>
          <a:lstStyle/>
          <a:p>
            <a:pPr marL="0" indent="0" algn="l">
              <a:lnSpc>
                <a:spcPct val="83000"/>
              </a:lnSpc>
              <a:buNone/>
            </a:pPr>
            <a:r>
              <a:rPr lang="en-US" sz="3600" kern="100" spc="-36" dirty="0">
                <a:solidFill>
                  <a:srgbClr val="F4F3EC"/>
                </a:solidFill>
                <a:latin typeface="Fira Sans Condensed SemiBold" pitchFamily="34" charset="0"/>
                <a:ea typeface="Fira Sans Condensed SemiBold" pitchFamily="34" charset="-122"/>
                <a:cs typeface="Fira Sans Condensed SemiBold" pitchFamily="34" charset="-120"/>
              </a:rPr>
              <a:t>40.59%</a:t>
            </a:r>
            <a:endParaRPr lang="en-US" sz="3600" dirty="0"/>
          </a:p>
        </p:txBody>
      </p:sp>
      <p:sp>
        <p:nvSpPr>
          <p:cNvPr id="9" name="Text 6"/>
          <p:cNvSpPr/>
          <p:nvPr/>
        </p:nvSpPr>
        <p:spPr>
          <a:xfrm>
            <a:off x="7836895" y="3619599"/>
            <a:ext cx="4354800" cy="214610"/>
          </a:xfrm>
          <a:prstGeom prst="rect">
            <a:avLst/>
          </a:prstGeom>
          <a:noFill/>
          <a:ln/>
        </p:spPr>
        <p:txBody>
          <a:bodyPr wrap="none" lIns="0" tIns="0" rIns="0" bIns="0" rtlCol="0" anchor="t"/>
          <a:lstStyle/>
          <a:p>
            <a:pPr marL="0" indent="0" algn="l">
              <a:lnSpc>
                <a:spcPct val="108000"/>
              </a:lnSpc>
              <a:buNone/>
            </a:pPr>
            <a:r>
              <a:rPr lang="en-US" sz="1300" dirty="0">
                <a:solidFill>
                  <a:srgbClr val="E3ECE7"/>
                </a:solidFill>
                <a:latin typeface="Fira Sans Condensed" pitchFamily="34" charset="0"/>
                <a:ea typeface="Fira Sans Condensed" pitchFamily="34" charset="-122"/>
                <a:cs typeface="Fira Sans Condensed" pitchFamily="34" charset="-120"/>
              </a:rPr>
              <a:t>Bulk orders · 330</a:t>
            </a:r>
            <a:endParaRPr lang="en-US" sz="1300" dirty="0"/>
          </a:p>
        </p:txBody>
      </p:sp>
      <p:sp>
        <p:nvSpPr>
          <p:cNvPr id="10" name="Text 7"/>
          <p:cNvSpPr/>
          <p:nvPr/>
        </p:nvSpPr>
        <p:spPr>
          <a:xfrm>
            <a:off x="7836895" y="4088209"/>
            <a:ext cx="4094457" cy="457200"/>
          </a:xfrm>
          <a:prstGeom prst="rect">
            <a:avLst/>
          </a:prstGeom>
          <a:noFill/>
          <a:ln/>
        </p:spPr>
        <p:txBody>
          <a:bodyPr wrap="none" lIns="0" tIns="0" rIns="0" bIns="0" rtlCol="0" anchor="t"/>
          <a:lstStyle/>
          <a:p>
            <a:pPr marL="0" indent="0" algn="l">
              <a:lnSpc>
                <a:spcPct val="83000"/>
              </a:lnSpc>
              <a:buNone/>
            </a:pPr>
            <a:r>
              <a:rPr lang="en-US" sz="3600" kern="100" spc="-36" dirty="0">
                <a:solidFill>
                  <a:srgbClr val="F4F3EC"/>
                </a:solidFill>
                <a:latin typeface="Fira Sans Condensed SemiBold" pitchFamily="34" charset="0"/>
                <a:ea typeface="Fira Sans Condensed SemiBold" pitchFamily="34" charset="-122"/>
                <a:cs typeface="Fira Sans Condensed SemiBold" pitchFamily="34" charset="-120"/>
              </a:rPr>
              <a:t>40.34%</a:t>
            </a:r>
            <a:endParaRPr lang="en-US" sz="3600" dirty="0"/>
          </a:p>
        </p:txBody>
      </p:sp>
      <p:sp>
        <p:nvSpPr>
          <p:cNvPr id="11" name="Text 8"/>
          <p:cNvSpPr/>
          <p:nvPr/>
        </p:nvSpPr>
        <p:spPr>
          <a:xfrm>
            <a:off x="7836895" y="4634309"/>
            <a:ext cx="4354800" cy="214610"/>
          </a:xfrm>
          <a:prstGeom prst="rect">
            <a:avLst/>
          </a:prstGeom>
          <a:noFill/>
          <a:ln/>
        </p:spPr>
        <p:txBody>
          <a:bodyPr wrap="none" lIns="0" tIns="0" rIns="0" bIns="0" rtlCol="0" anchor="t"/>
          <a:lstStyle/>
          <a:p>
            <a:pPr marL="0" indent="0" algn="l">
              <a:lnSpc>
                <a:spcPct val="108000"/>
              </a:lnSpc>
              <a:buNone/>
            </a:pPr>
            <a:r>
              <a:rPr lang="en-US" sz="1300" dirty="0">
                <a:solidFill>
                  <a:srgbClr val="E3ECE7"/>
                </a:solidFill>
                <a:latin typeface="Fira Sans Condensed" pitchFamily="34" charset="0"/>
                <a:ea typeface="Fira Sans Condensed" pitchFamily="34" charset="-122"/>
                <a:cs typeface="Fira Sans Condensed" pitchFamily="34" charset="-120"/>
              </a:rPr>
              <a:t>Single-item orders · 328</a:t>
            </a:r>
            <a:endParaRPr lang="en-US" sz="1300" dirty="0"/>
          </a:p>
        </p:txBody>
      </p:sp>
      <p:sp>
        <p:nvSpPr>
          <p:cNvPr id="12" name="Text 9"/>
          <p:cNvSpPr/>
          <p:nvPr/>
        </p:nvSpPr>
        <p:spPr>
          <a:xfrm>
            <a:off x="7836895" y="5102920"/>
            <a:ext cx="4094457" cy="457200"/>
          </a:xfrm>
          <a:prstGeom prst="rect">
            <a:avLst/>
          </a:prstGeom>
          <a:noFill/>
          <a:ln/>
        </p:spPr>
        <p:txBody>
          <a:bodyPr wrap="none" lIns="0" tIns="0" rIns="0" bIns="0" rtlCol="0" anchor="t"/>
          <a:lstStyle/>
          <a:p>
            <a:pPr marL="0" indent="0" algn="l">
              <a:lnSpc>
                <a:spcPct val="83000"/>
              </a:lnSpc>
              <a:buNone/>
            </a:pPr>
            <a:r>
              <a:rPr lang="en-US" sz="3600" kern="100" spc="-36" dirty="0">
                <a:solidFill>
                  <a:srgbClr val="F4F3EC"/>
                </a:solidFill>
                <a:latin typeface="Fira Sans Condensed SemiBold" pitchFamily="34" charset="0"/>
                <a:ea typeface="Fira Sans Condensed SemiBold" pitchFamily="34" charset="-122"/>
                <a:cs typeface="Fira Sans Condensed SemiBold" pitchFamily="34" charset="-120"/>
              </a:rPr>
              <a:t>19.07%</a:t>
            </a:r>
            <a:endParaRPr lang="en-US" sz="3600" dirty="0"/>
          </a:p>
        </p:txBody>
      </p:sp>
      <p:sp>
        <p:nvSpPr>
          <p:cNvPr id="13" name="Text 10"/>
          <p:cNvSpPr/>
          <p:nvPr/>
        </p:nvSpPr>
        <p:spPr>
          <a:xfrm>
            <a:off x="7836895" y="5649020"/>
            <a:ext cx="4354800" cy="214610"/>
          </a:xfrm>
          <a:prstGeom prst="rect">
            <a:avLst/>
          </a:prstGeom>
          <a:noFill/>
          <a:ln/>
        </p:spPr>
        <p:txBody>
          <a:bodyPr wrap="none" lIns="0" tIns="0" rIns="0" bIns="0" rtlCol="0" anchor="t"/>
          <a:lstStyle/>
          <a:p>
            <a:pPr marL="0" indent="0" algn="l">
              <a:lnSpc>
                <a:spcPct val="108000"/>
              </a:lnSpc>
              <a:buNone/>
            </a:pPr>
            <a:r>
              <a:rPr lang="en-US" sz="1300" dirty="0">
                <a:solidFill>
                  <a:srgbClr val="E3ECE7"/>
                </a:solidFill>
                <a:latin typeface="Fira Sans Condensed" pitchFamily="34" charset="0"/>
                <a:ea typeface="Fira Sans Condensed" pitchFamily="34" charset="-122"/>
                <a:cs typeface="Fira Sans Condensed" pitchFamily="34" charset="-120"/>
              </a:rPr>
              <a:t>Medium orders · 155</a:t>
            </a:r>
            <a:endParaRPr lang="en-US" sz="1300" dirty="0"/>
          </a:p>
        </p:txBody>
      </p:sp>
      <p:sp>
        <p:nvSpPr>
          <p:cNvPr id="14" name="Shape 11"/>
          <p:cNvSpPr/>
          <p:nvPr/>
        </p:nvSpPr>
        <p:spPr>
          <a:xfrm>
            <a:off x="7836895" y="6019205"/>
            <a:ext cx="4094457" cy="19050"/>
          </a:xfrm>
          <a:prstGeom prst="roundRect">
            <a:avLst>
              <a:gd name="adj" fmla="val 49999"/>
            </a:avLst>
          </a:prstGeom>
          <a:solidFill>
            <a:srgbClr val="1F6B50"/>
          </a:solidFill>
          <a:ln/>
        </p:spPr>
      </p:sp>
      <p:sp>
        <p:nvSpPr>
          <p:cNvPr id="15" name="Text 12"/>
          <p:cNvSpPr/>
          <p:nvPr/>
        </p:nvSpPr>
        <p:spPr>
          <a:xfrm>
            <a:off x="7836895" y="6193830"/>
            <a:ext cx="4094457" cy="429220"/>
          </a:xfrm>
          <a:prstGeom prst="rect">
            <a:avLst/>
          </a:prstGeom>
          <a:noFill/>
          <a:ln/>
        </p:spPr>
        <p:txBody>
          <a:bodyPr wrap="square" lIns="0" tIns="0" rIns="0" bIns="0" rtlCol="0" anchor="t">
            <a:normAutofit/>
          </a:bodyPr>
          <a:lstStyle/>
          <a:p>
            <a:pPr marL="0" indent="0" algn="ctr">
              <a:lnSpc>
                <a:spcPct val="108000"/>
              </a:lnSpc>
              <a:buNone/>
            </a:pPr>
            <a:r>
              <a:rPr lang="en-US" sz="2400" dirty="0">
                <a:solidFill>
                  <a:srgbClr val="E3ECE7"/>
                </a:solidFill>
                <a:latin typeface="Fira Sans Condensed" pitchFamily="34" charset="0"/>
              </a:rPr>
              <a:t>Donut Chart</a:t>
            </a:r>
            <a:endParaRPr lang="en-US" sz="2400" dirty="0"/>
          </a:p>
        </p:txBody>
      </p:sp>
      <p:pic>
        <p:nvPicPr>
          <p:cNvPr id="17" name="Picture 16">
            <a:extLst>
              <a:ext uri="{FF2B5EF4-FFF2-40B4-BE49-F238E27FC236}">
                <a16:creationId xmlns:a16="http://schemas.microsoft.com/office/drawing/2014/main" id="{36A12B60-E77C-E027-A519-7127E23FD8D3}"/>
              </a:ext>
            </a:extLst>
          </p:cNvPr>
          <p:cNvPicPr>
            <a:picLocks noChangeAspect="1"/>
          </p:cNvPicPr>
          <p:nvPr/>
        </p:nvPicPr>
        <p:blipFill>
          <a:blip r:embed="rId3"/>
          <a:stretch>
            <a:fillRect/>
          </a:stretch>
        </p:blipFill>
        <p:spPr>
          <a:xfrm>
            <a:off x="766001" y="2888166"/>
            <a:ext cx="5578652" cy="3671375"/>
          </a:xfrm>
          <a:prstGeom prst="rect">
            <a:avLst/>
          </a:prstGeom>
        </p:spPr>
      </p:pic>
      <p:pic>
        <p:nvPicPr>
          <p:cNvPr id="19" name="Picture 18">
            <a:extLst>
              <a:ext uri="{FF2B5EF4-FFF2-40B4-BE49-F238E27FC236}">
                <a16:creationId xmlns:a16="http://schemas.microsoft.com/office/drawing/2014/main" id="{24CED9F3-A7A3-AA65-B3AE-3995124D99EA}"/>
              </a:ext>
            </a:extLst>
          </p:cNvPr>
          <p:cNvPicPr>
            <a:picLocks noChangeAspect="1"/>
          </p:cNvPicPr>
          <p:nvPr/>
        </p:nvPicPr>
        <p:blipFill>
          <a:blip r:embed="rId4"/>
          <a:stretch>
            <a:fillRect/>
          </a:stretch>
        </p:blipFill>
        <p:spPr>
          <a:xfrm>
            <a:off x="8349917" y="182674"/>
            <a:ext cx="3581436" cy="22514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640247-EFDE-86F6-7DB3-084EE79783CB}"/>
              </a:ext>
            </a:extLst>
          </p:cNvPr>
          <p:cNvSpPr/>
          <p:nvPr/>
        </p:nvSpPr>
        <p:spPr>
          <a:xfrm>
            <a:off x="2823411" y="2775284"/>
            <a:ext cx="5739984" cy="923330"/>
          </a:xfrm>
          <a:prstGeom prst="rect">
            <a:avLst/>
          </a:prstGeom>
          <a:noFill/>
        </p:spPr>
        <p:txBody>
          <a:bodyPr wrap="squar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Thankyou</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6" name="Shape 9">
            <a:extLst>
              <a:ext uri="{FF2B5EF4-FFF2-40B4-BE49-F238E27FC236}">
                <a16:creationId xmlns:a16="http://schemas.microsoft.com/office/drawing/2014/main" id="{417F0B43-FDC7-425C-A9C1-E0B494EDE602}"/>
              </a:ext>
            </a:extLst>
          </p:cNvPr>
          <p:cNvSpPr/>
          <p:nvPr/>
        </p:nvSpPr>
        <p:spPr>
          <a:xfrm>
            <a:off x="0" y="-1"/>
            <a:ext cx="3281677" cy="7307179"/>
          </a:xfrm>
          <a:prstGeom prst="roundRect">
            <a:avLst>
              <a:gd name="adj" fmla="val 4017"/>
            </a:avLst>
          </a:prstGeom>
          <a:solidFill>
            <a:srgbClr val="DDF2E8"/>
          </a:solidFill>
          <a:ln/>
        </p:spPr>
        <p:txBody>
          <a:bodyPr/>
          <a:lstStyle/>
          <a:p>
            <a:endParaRPr lang="en-US" dirty="0"/>
          </a:p>
        </p:txBody>
      </p:sp>
    </p:spTree>
    <p:extLst>
      <p:ext uri="{BB962C8B-B14F-4D97-AF65-F5344CB8AC3E}">
        <p14:creationId xmlns:p14="http://schemas.microsoft.com/office/powerpoint/2010/main" val="1789700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80990" y="384175"/>
            <a:ext cx="11810705"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9FE3C4"/>
                </a:solidFill>
                <a:latin typeface="JetBrains Mono Medium" pitchFamily="34" charset="0"/>
                <a:ea typeface="JetBrains Mono Medium" pitchFamily="34" charset="-122"/>
                <a:cs typeface="JetBrains Mono Medium" pitchFamily="34" charset="-120"/>
              </a:rPr>
              <a:t>CATEGORY PRIORITIZATION · COMMON SCALE</a:t>
            </a:r>
            <a:endParaRPr lang="en-US" sz="1050" dirty="0"/>
          </a:p>
        </p:txBody>
      </p:sp>
      <p:sp>
        <p:nvSpPr>
          <p:cNvPr id="3" name="Text 1"/>
          <p:cNvSpPr/>
          <p:nvPr/>
        </p:nvSpPr>
        <p:spPr>
          <a:xfrm>
            <a:off x="380990" y="613606"/>
            <a:ext cx="11429714" cy="863264"/>
          </a:xfrm>
          <a:prstGeom prst="rect">
            <a:avLst/>
          </a:prstGeom>
          <a:noFill/>
          <a:ln/>
        </p:spPr>
        <p:txBody>
          <a:bodyPr wrap="none" lIns="0" tIns="0" rIns="0" bIns="0" rtlCol="0" anchor="t"/>
          <a:lstStyle/>
          <a:p>
            <a:pPr marL="0" indent="0" algn="ctr">
              <a:lnSpc>
                <a:spcPct val="90000"/>
              </a:lnSpc>
              <a:buNone/>
            </a:pPr>
            <a:r>
              <a:rPr lang="en-US" sz="4000" dirty="0">
                <a:solidFill>
                  <a:schemeClr val="bg1"/>
                </a:solidFill>
                <a:latin typeface="Bell MT" panose="02020503060305020303" pitchFamily="18" charset="0"/>
              </a:rPr>
              <a:t>INSIGHTS</a:t>
            </a:r>
          </a:p>
        </p:txBody>
      </p:sp>
      <p:sp>
        <p:nvSpPr>
          <p:cNvPr id="4" name="Shape 2"/>
          <p:cNvSpPr/>
          <p:nvPr/>
        </p:nvSpPr>
        <p:spPr>
          <a:xfrm>
            <a:off x="0" y="2487315"/>
            <a:ext cx="7825584" cy="4370685"/>
          </a:xfrm>
          <a:prstGeom prst="roundRect">
            <a:avLst>
              <a:gd name="adj" fmla="val 1395"/>
            </a:avLst>
          </a:prstGeom>
          <a:solidFill>
            <a:srgbClr val="F4F3EC"/>
          </a:solidFill>
          <a:ln/>
        </p:spPr>
      </p:sp>
      <p:sp>
        <p:nvSpPr>
          <p:cNvPr id="6" name="Shape 3"/>
          <p:cNvSpPr/>
          <p:nvPr/>
        </p:nvSpPr>
        <p:spPr>
          <a:xfrm>
            <a:off x="7977881" y="2487315"/>
            <a:ext cx="4213814" cy="4370685"/>
          </a:xfrm>
          <a:prstGeom prst="roundRect">
            <a:avLst>
              <a:gd name="adj" fmla="val 1447"/>
            </a:avLst>
          </a:prstGeom>
          <a:solidFill>
            <a:srgbClr val="F4F3EC"/>
          </a:solidFill>
          <a:ln/>
        </p:spPr>
      </p:sp>
      <p:sp>
        <p:nvSpPr>
          <p:cNvPr id="7" name="Text 4"/>
          <p:cNvSpPr/>
          <p:nvPr/>
        </p:nvSpPr>
        <p:spPr>
          <a:xfrm>
            <a:off x="8206475" y="2693690"/>
            <a:ext cx="3985220" cy="159941"/>
          </a:xfrm>
          <a:prstGeom prst="rect">
            <a:avLst/>
          </a:prstGeom>
          <a:noFill/>
          <a:ln/>
        </p:spPr>
        <p:txBody>
          <a:bodyPr wrap="none" lIns="0" tIns="0" rIns="0" bIns="0" rtlCol="0" anchor="t"/>
          <a:lstStyle/>
          <a:p>
            <a:pPr marL="0" indent="0" algn="l">
              <a:lnSpc>
                <a:spcPct val="100000"/>
              </a:lnSpc>
              <a:buNone/>
            </a:pPr>
            <a:r>
              <a:rPr lang="en-US" sz="1050" kern="100" spc="63" dirty="0">
                <a:solidFill>
                  <a:srgbClr val="000000"/>
                </a:solidFill>
                <a:latin typeface="JetBrains Mono Medium" pitchFamily="34" charset="0"/>
                <a:ea typeface="JetBrains Mono Medium" pitchFamily="34" charset="-122"/>
                <a:cs typeface="JetBrains Mono Medium" pitchFamily="34" charset="-120"/>
              </a:rPr>
              <a:t>RANKING</a:t>
            </a:r>
            <a:endParaRPr lang="en-US" sz="1050" dirty="0"/>
          </a:p>
        </p:txBody>
      </p:sp>
      <p:sp>
        <p:nvSpPr>
          <p:cNvPr id="8" name="Text 5"/>
          <p:cNvSpPr/>
          <p:nvPr/>
        </p:nvSpPr>
        <p:spPr>
          <a:xfrm>
            <a:off x="8206475" y="2906018"/>
            <a:ext cx="3756626" cy="438150"/>
          </a:xfrm>
          <a:prstGeom prst="rect">
            <a:avLst/>
          </a:prstGeom>
          <a:noFill/>
          <a:ln/>
        </p:spPr>
        <p:txBody>
          <a:bodyPr wrap="square" lIns="0" tIns="0" rIns="0" bIns="0" rtlCol="0" anchor="t">
            <a:normAutofit lnSpcReduction="10000"/>
          </a:bodyPr>
          <a:lstStyle/>
          <a:p>
            <a:pPr marL="0" indent="0" algn="l">
              <a:lnSpc>
                <a:spcPct val="96000"/>
              </a:lnSpc>
              <a:buNone/>
            </a:pPr>
            <a:r>
              <a:rPr lang="en-US" sz="1500" kern="100" spc="-7" dirty="0">
                <a:solidFill>
                  <a:srgbClr val="000000"/>
                </a:solidFill>
                <a:latin typeface="Fira Sans Condensed SemiBold" pitchFamily="34" charset="0"/>
                <a:ea typeface="Fira Sans Condensed SemiBold" pitchFamily="34" charset="-122"/>
                <a:cs typeface="Fira Sans Condensed SemiBold" pitchFamily="34" charset="-120"/>
              </a:rPr>
              <a:t>Dairy → Vegetables → Fruits → Grains → Personal Care → Meat → Bakery</a:t>
            </a:r>
            <a:endParaRPr lang="en-US" sz="1500" dirty="0"/>
          </a:p>
        </p:txBody>
      </p:sp>
      <p:sp>
        <p:nvSpPr>
          <p:cNvPr id="9" name="Shape 6"/>
          <p:cNvSpPr/>
          <p:nvPr/>
        </p:nvSpPr>
        <p:spPr>
          <a:xfrm>
            <a:off x="8206475" y="3472755"/>
            <a:ext cx="3756526" cy="19050"/>
          </a:xfrm>
          <a:prstGeom prst="roundRect">
            <a:avLst>
              <a:gd name="adj" fmla="val 49999"/>
            </a:avLst>
          </a:prstGeom>
          <a:solidFill>
            <a:srgbClr val="1F6B50"/>
          </a:solidFill>
          <a:ln/>
        </p:spPr>
      </p:sp>
      <p:sp>
        <p:nvSpPr>
          <p:cNvPr id="10" name="Text 7"/>
          <p:cNvSpPr/>
          <p:nvPr/>
        </p:nvSpPr>
        <p:spPr>
          <a:xfrm>
            <a:off x="8206475" y="3787080"/>
            <a:ext cx="3756626" cy="457200"/>
          </a:xfrm>
          <a:prstGeom prst="rect">
            <a:avLst/>
          </a:prstGeom>
          <a:noFill/>
          <a:ln/>
        </p:spPr>
        <p:txBody>
          <a:bodyPr wrap="none" lIns="0" tIns="0" rIns="0" bIns="0" rtlCol="0" anchor="t"/>
          <a:lstStyle/>
          <a:p>
            <a:pPr marL="0" indent="0" algn="l">
              <a:lnSpc>
                <a:spcPct val="83000"/>
              </a:lnSpc>
              <a:buNone/>
            </a:pPr>
            <a:r>
              <a:rPr lang="en-US" sz="3600" kern="100" spc="-36" dirty="0">
                <a:solidFill>
                  <a:srgbClr val="000000"/>
                </a:solidFill>
                <a:latin typeface="Fira Sans Condensed SemiBold" pitchFamily="34" charset="0"/>
                <a:ea typeface="Fira Sans Condensed SemiBold" pitchFamily="34" charset="-122"/>
                <a:cs typeface="Fira Sans Condensed SemiBold" pitchFamily="34" charset="-120"/>
              </a:rPr>
              <a:t>95,407</a:t>
            </a:r>
            <a:endParaRPr lang="en-US" sz="3600" dirty="0"/>
          </a:p>
        </p:txBody>
      </p:sp>
      <p:sp>
        <p:nvSpPr>
          <p:cNvPr id="11" name="Text 8"/>
          <p:cNvSpPr/>
          <p:nvPr/>
        </p:nvSpPr>
        <p:spPr>
          <a:xfrm>
            <a:off x="8206475" y="4333180"/>
            <a:ext cx="3985220" cy="214610"/>
          </a:xfrm>
          <a:prstGeom prst="rect">
            <a:avLst/>
          </a:prstGeom>
          <a:noFill/>
          <a:ln/>
        </p:spPr>
        <p:txBody>
          <a:bodyPr wrap="none" lIns="0" tIns="0" rIns="0" bIns="0" rtlCol="0" anchor="t"/>
          <a:lstStyle/>
          <a:p>
            <a:pPr marL="0" indent="0" algn="l">
              <a:lnSpc>
                <a:spcPct val="108000"/>
              </a:lnSpc>
              <a:buNone/>
            </a:pPr>
            <a:r>
              <a:rPr lang="en-US" sz="1300" dirty="0">
                <a:solidFill>
                  <a:srgbClr val="000000"/>
                </a:solidFill>
                <a:latin typeface="Fira Sans Condensed" pitchFamily="34" charset="0"/>
                <a:ea typeface="Fira Sans Condensed" pitchFamily="34" charset="-122"/>
                <a:cs typeface="Fira Sans Condensed" pitchFamily="34" charset="-120"/>
              </a:rPr>
              <a:t>Displayed gap between Dairy and Bakery.</a:t>
            </a:r>
            <a:endParaRPr lang="en-US" sz="1300" dirty="0"/>
          </a:p>
        </p:txBody>
      </p:sp>
      <p:sp>
        <p:nvSpPr>
          <p:cNvPr id="12" name="Text 9"/>
          <p:cNvSpPr/>
          <p:nvPr/>
        </p:nvSpPr>
        <p:spPr>
          <a:xfrm>
            <a:off x="8206475" y="4668044"/>
            <a:ext cx="3756626" cy="333375"/>
          </a:xfrm>
          <a:prstGeom prst="rect">
            <a:avLst/>
          </a:prstGeom>
          <a:noFill/>
          <a:ln/>
        </p:spPr>
        <p:txBody>
          <a:bodyPr wrap="square" lIns="0" tIns="0" rIns="0" bIns="0" rtlCol="0" anchor="t">
            <a:normAutofit/>
          </a:bodyPr>
          <a:lstStyle/>
          <a:p>
            <a:pPr marL="0" indent="0" algn="l">
              <a:lnSpc>
                <a:spcPct val="104000"/>
              </a:lnSpc>
              <a:buNone/>
            </a:pP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TotalTime>
  <Words>1167</Words>
  <Application>Microsoft Office PowerPoint</Application>
  <PresentationFormat>Widescreen</PresentationFormat>
  <Paragraphs>88</Paragraphs>
  <Slides>10</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Fira Sans Condensed SemiBold</vt:lpstr>
      <vt:lpstr>Bell MT</vt:lpstr>
      <vt:lpstr>Bernard MT Condensed</vt:lpstr>
      <vt:lpstr>Arial</vt:lpstr>
      <vt:lpstr>Algerian</vt:lpstr>
      <vt:lpstr>JetBrains Mono Medium</vt:lpstr>
      <vt:lpstr>Agency FB</vt:lpstr>
      <vt:lpstr>Fira Sans Condensed</vt:lpstr>
      <vt:lpstr>Bahnschrift Light Condensed</vt:lpstr>
      <vt:lpstr>Aptos Narrow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ALKA</dc:creator>
  <cp:lastModifiedBy>Lakshit Chaturvedi</cp:lastModifiedBy>
  <cp:revision>2</cp:revision>
  <dcterms:created xsi:type="dcterms:W3CDTF">2026-10-12T17:01:04Z</dcterms:created>
  <dcterms:modified xsi:type="dcterms:W3CDTF">2026-10-13T04:42:54Z</dcterms:modified>
</cp:coreProperties>
</file>